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0"/>
  </p:notesMasterIdLst>
  <p:handoutMasterIdLst>
    <p:handoutMasterId r:id="rId31"/>
  </p:handoutMasterIdLst>
  <p:sldIdLst>
    <p:sldId id="331" r:id="rId2"/>
    <p:sldId id="328" r:id="rId3"/>
    <p:sldId id="976" r:id="rId4"/>
    <p:sldId id="977" r:id="rId5"/>
    <p:sldId id="565" r:id="rId6"/>
    <p:sldId id="951" r:id="rId7"/>
    <p:sldId id="963" r:id="rId8"/>
    <p:sldId id="964" r:id="rId9"/>
    <p:sldId id="956" r:id="rId10"/>
    <p:sldId id="961" r:id="rId11"/>
    <p:sldId id="959" r:id="rId12"/>
    <p:sldId id="958" r:id="rId13"/>
    <p:sldId id="960" r:id="rId14"/>
    <p:sldId id="957" r:id="rId15"/>
    <p:sldId id="948" r:id="rId16"/>
    <p:sldId id="947" r:id="rId17"/>
    <p:sldId id="954" r:id="rId18"/>
    <p:sldId id="953" r:id="rId19"/>
    <p:sldId id="945" r:id="rId20"/>
    <p:sldId id="944" r:id="rId21"/>
    <p:sldId id="942" r:id="rId22"/>
    <p:sldId id="966" r:id="rId23"/>
    <p:sldId id="965" r:id="rId24"/>
    <p:sldId id="969" r:id="rId25"/>
    <p:sldId id="968" r:id="rId26"/>
    <p:sldId id="975" r:id="rId27"/>
    <p:sldId id="971" r:id="rId28"/>
    <p:sldId id="268" r:id="rId29"/>
  </p:sldIdLst>
  <p:sldSz cx="9144000" cy="6858000" type="screen4x3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ntayew1" initials="S" lastIdx="4" clrIdx="0">
    <p:extLst>
      <p:ext uri="{19B8F6BF-5375-455C-9EA6-DF929625EA0E}">
        <p15:presenceInfo xmlns:p15="http://schemas.microsoft.com/office/powerpoint/2012/main" xmlns="" userId="Sintayew1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96633"/>
    <a:srgbClr val="922E7F"/>
    <a:srgbClr val="725F28"/>
    <a:srgbClr val="000066"/>
    <a:srgbClr val="87397E"/>
    <a:srgbClr val="0033CC"/>
    <a:srgbClr val="FFCC99"/>
    <a:srgbClr val="0000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1" autoAdjust="0"/>
    <p:restoredTop sz="98566" autoAdjust="0"/>
  </p:normalViewPr>
  <p:slideViewPr>
    <p:cSldViewPr>
      <p:cViewPr>
        <p:scale>
          <a:sx n="73" d="100"/>
          <a:sy n="73" d="100"/>
        </p:scale>
        <p:origin x="-1954" y="-3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40" y="3776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1338"/>
    </p:cViewPr>
  </p:sorterViewPr>
  <p:notesViewPr>
    <p:cSldViewPr>
      <p:cViewPr varScale="1">
        <p:scale>
          <a:sx n="55" d="100"/>
          <a:sy n="55" d="100"/>
        </p:scale>
        <p:origin x="-2856" y="-102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8BC83D8F-B6F2-40CB-A022-11F7A72C21D3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8995636F-9BDF-4DEA-934C-60219CCC2A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395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C85C45D8-7BE3-42A8-B311-14D4026509E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21E1D188-452A-47F5-87FF-800BD2E815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651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85E7AC2D-ACA1-4286-8EBA-F054818FE257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43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0110B0-C261-4314-96C5-06339D66C1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7AC2D-ACA1-4286-8EBA-F054818FE257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70110B0-C261-4314-96C5-06339D66C1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6" y="2743205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7AC2D-ACA1-4286-8EBA-F054818FE257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70110B0-C261-4314-96C5-06339D66C1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85E7AC2D-ACA1-4286-8EBA-F054818FE257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70110B0-C261-4314-96C5-06339D66C1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  <p:transition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1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85E7AC2D-ACA1-4286-8EBA-F054818FE257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70110B0-C261-4314-96C5-06339D66C1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  <p:transition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7AC2D-ACA1-4286-8EBA-F054818FE257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70110B0-C261-4314-96C5-06339D66C1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7AC2D-ACA1-4286-8EBA-F054818FE257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0110B0-C261-4314-96C5-06339D66C1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1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7AC2D-ACA1-4286-8EBA-F054818FE257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70110B0-C261-4314-96C5-06339D66C1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5"/>
            <a:ext cx="2667000" cy="365125"/>
          </a:xfrm>
        </p:spPr>
        <p:txBody>
          <a:bodyPr rtlCol="0"/>
          <a:lstStyle/>
          <a:p>
            <a:fld id="{85E7AC2D-ACA1-4286-8EBA-F054818FE257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1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70110B0-C261-4314-96C5-06339D66C1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11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7AC2D-ACA1-4286-8EBA-F054818FE257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10B0-C261-4314-96C5-06339D66C1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5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1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7"/>
            <a:ext cx="2209800" cy="365125"/>
          </a:xfrm>
        </p:spPr>
        <p:txBody>
          <a:bodyPr/>
          <a:lstStyle/>
          <a:p>
            <a:fld id="{85E7AC2D-ACA1-4286-8EBA-F054818FE257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12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9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9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9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9" y="144464"/>
            <a:ext cx="533400" cy="244476"/>
          </a:xfrm>
        </p:spPr>
        <p:txBody>
          <a:bodyPr/>
          <a:lstStyle/>
          <a:p>
            <a:fld id="{070110B0-C261-4314-96C5-06339D66C1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5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5E7AC2D-ACA1-4286-8EBA-F054818FE257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6248211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49" y="1280160"/>
            <a:ext cx="8553451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70110B0-C261-4314-96C5-06339D66C10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wipe dir="d"/>
  </p:transition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838200" y="3276600"/>
            <a:ext cx="7543800" cy="14700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anchor="ctr">
            <a:normAutofit fontScale="85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en-US" sz="4600" b="1" i="1" dirty="0" smtClean="0">
              <a:solidFill>
                <a:srgbClr val="0000FF"/>
              </a:solidFill>
            </a:endParaRPr>
          </a:p>
          <a:p>
            <a:pPr algn="ctr"/>
            <a:r>
              <a:rPr lang="en-US" altLang="en-US" sz="4200" b="1" i="1" dirty="0" smtClean="0">
                <a:solidFill>
                  <a:srgbClr val="922E7F"/>
                </a:solidFill>
              </a:rPr>
              <a:t>ENTREPRENEURSHIP</a:t>
            </a:r>
            <a:r>
              <a:rPr lang="en-US" sz="3800" b="1" cap="all" dirty="0" smtClean="0">
                <a:solidFill>
                  <a:srgbClr val="922E7F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sz="3800" dirty="0" smtClean="0">
                <a:solidFill>
                  <a:srgbClr val="922E7F"/>
                </a:solidFill>
              </a:rPr>
              <a:t/>
            </a:r>
            <a:br>
              <a:rPr lang="en-US" sz="3800" dirty="0" smtClean="0">
                <a:solidFill>
                  <a:srgbClr val="922E7F"/>
                </a:solidFill>
              </a:rPr>
            </a:br>
            <a:endParaRPr lang="en-US" altLang="en-US" sz="3800" dirty="0" smtClean="0">
              <a:solidFill>
                <a:srgbClr val="922E7F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6934200" y="6019800"/>
            <a:ext cx="1981200" cy="609600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600" b="1" i="1" smtClean="0">
                <a:solidFill>
                  <a:srgbClr val="922E7F"/>
                </a:solidFill>
              </a:rPr>
              <a:t>2018 </a:t>
            </a:r>
            <a:r>
              <a:rPr lang="en-US" altLang="en-US" sz="3600" b="1" i="1" dirty="0" smtClean="0">
                <a:solidFill>
                  <a:srgbClr val="922E7F"/>
                </a:solidFill>
              </a:rPr>
              <a:t>E.C</a:t>
            </a:r>
          </a:p>
          <a:p>
            <a:pPr marL="0" indent="0" algn="ctr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3600" b="1" i="1" dirty="0"/>
          </a:p>
          <a:p>
            <a:pPr marL="0" indent="0" algn="ctr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3600" b="1" i="1" dirty="0" smtClean="0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676400" y="838200"/>
            <a:ext cx="6172200" cy="14700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CHAPTER FOUR</a:t>
            </a:r>
          </a:p>
        </p:txBody>
      </p:sp>
      <p:pic>
        <p:nvPicPr>
          <p:cNvPr id="5" name="Picture 4" descr="C:\Users\User\Desktop\ASSt\hawassa university_tcm94-13027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533400"/>
            <a:ext cx="1447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86234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95400"/>
          </a:xfr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922E7F"/>
                </a:solidFill>
              </a:rPr>
              <a:t/>
            </a:r>
            <a:br>
              <a:rPr lang="en-US" sz="2800" b="1" dirty="0" smtClean="0">
                <a:solidFill>
                  <a:srgbClr val="922E7F"/>
                </a:solidFill>
              </a:rPr>
            </a:br>
            <a:r>
              <a:rPr lang="en-US" sz="2800" b="1" dirty="0" smtClean="0">
                <a:solidFill>
                  <a:srgbClr val="922E7F"/>
                </a:solidFill>
              </a:rPr>
              <a:t>     CHAPTER 4: PRODUCT/SERVICE DEVELOPMENT</a:t>
            </a:r>
            <a:endParaRPr lang="en-US" sz="2800" dirty="0">
              <a:solidFill>
                <a:srgbClr val="922E7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371600"/>
            <a:ext cx="9067800" cy="5486400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600"/>
              </a:spcBef>
              <a:buNone/>
            </a:pPr>
            <a:r>
              <a:rPr lang="en-US" sz="3100" b="1" dirty="0" smtClean="0">
                <a:solidFill>
                  <a:srgbClr val="C00000"/>
                </a:solidFill>
              </a:rPr>
              <a:t>   4.1 INTRODUCTION</a:t>
            </a:r>
          </a:p>
          <a:p>
            <a:pPr marL="0" indent="0">
              <a:spcBef>
                <a:spcPts val="600"/>
              </a:spcBef>
              <a:buSzPct val="100000"/>
              <a:buNone/>
            </a:pPr>
            <a:r>
              <a:rPr lang="en-US" sz="3100" b="1" dirty="0" smtClean="0">
                <a:solidFill>
                  <a:srgbClr val="FF0000"/>
                </a:solidFill>
              </a:rPr>
              <a:t> What is product/service development?</a:t>
            </a:r>
          </a:p>
          <a:p>
            <a:pPr marL="457200" indent="-365760">
              <a:spcBef>
                <a:spcPts val="600"/>
              </a:spcBef>
              <a:buClr>
                <a:srgbClr val="002060"/>
              </a:buClr>
              <a:buSzPct val="99000"/>
              <a:buFont typeface="Wingdings" pitchFamily="2" charset="2"/>
              <a:buChar char="®"/>
            </a:pPr>
            <a:r>
              <a:rPr lang="en-US" sz="3100" b="1" dirty="0" smtClean="0"/>
              <a:t>A </a:t>
            </a:r>
            <a:r>
              <a:rPr lang="en-US" sz="3100" b="1" dirty="0" smtClean="0">
                <a:solidFill>
                  <a:srgbClr val="922E7F"/>
                </a:solidFill>
              </a:rPr>
              <a:t>complete process </a:t>
            </a:r>
            <a:r>
              <a:rPr lang="en-US" sz="3100" b="1" dirty="0" smtClean="0"/>
              <a:t>of bringing a new product/service in the market.</a:t>
            </a:r>
          </a:p>
          <a:p>
            <a:pPr marL="457200" indent="-365760">
              <a:spcBef>
                <a:spcPts val="600"/>
              </a:spcBef>
              <a:buClr>
                <a:srgbClr val="002060"/>
              </a:buClr>
              <a:buSzPct val="99000"/>
              <a:buFont typeface="Wingdings" pitchFamily="2" charset="2"/>
              <a:buChar char="®"/>
            </a:pPr>
            <a:r>
              <a:rPr lang="en-US" sz="3100" b="1" dirty="0" smtClean="0"/>
              <a:t>It's an </a:t>
            </a:r>
            <a:r>
              <a:rPr lang="en-US" sz="3100" b="1" dirty="0" smtClean="0">
                <a:solidFill>
                  <a:srgbClr val="922E7F"/>
                </a:solidFill>
              </a:rPr>
              <a:t>ongoing practice </a:t>
            </a:r>
            <a:r>
              <a:rPr lang="en-US" sz="3100" b="1" dirty="0" smtClean="0"/>
              <a:t>(</a:t>
            </a:r>
            <a:r>
              <a:rPr lang="en-US" sz="3100" b="1" u="sng" dirty="0" smtClean="0">
                <a:solidFill>
                  <a:srgbClr val="002060"/>
                </a:solidFill>
              </a:rPr>
              <a:t>LOOKING FOR OPPORTUNITIES </a:t>
            </a:r>
            <a:r>
              <a:rPr lang="en-US" sz="3100" b="1" dirty="0" smtClean="0"/>
              <a:t>– to be strong market position)</a:t>
            </a:r>
          </a:p>
          <a:p>
            <a:pPr marL="457200" indent="-365760">
              <a:spcBef>
                <a:spcPts val="600"/>
              </a:spcBef>
              <a:buClr>
                <a:srgbClr val="002060"/>
              </a:buClr>
              <a:buSzPct val="99000"/>
              <a:buFont typeface="Wingdings" pitchFamily="2" charset="2"/>
              <a:buChar char="®"/>
            </a:pPr>
            <a:r>
              <a:rPr lang="en-US" sz="3100" b="1" dirty="0" smtClean="0"/>
              <a:t>New product development process involves; idea generation, product design, detail engineering; and market research and analysis.</a:t>
            </a:r>
          </a:p>
          <a:p>
            <a:pPr marL="457200" indent="-365760">
              <a:spcBef>
                <a:spcPts val="600"/>
              </a:spcBef>
              <a:buClr>
                <a:srgbClr val="002060"/>
              </a:buClr>
              <a:buSzPct val="99000"/>
              <a:buFont typeface="Wingdings" pitchFamily="2" charset="2"/>
              <a:buChar char="®"/>
            </a:pPr>
            <a:endParaRPr lang="en-US" sz="3100" b="1" dirty="0" smtClean="0"/>
          </a:p>
          <a:p>
            <a:pPr marL="457200" indent="-365760">
              <a:spcBef>
                <a:spcPts val="600"/>
              </a:spcBef>
              <a:buClr>
                <a:srgbClr val="002060"/>
              </a:buClr>
              <a:buSzPct val="99000"/>
              <a:buFont typeface="Wingdings" pitchFamily="2" charset="2"/>
              <a:buChar char="®"/>
            </a:pPr>
            <a:r>
              <a:rPr lang="en-US" sz="3100" b="1" dirty="0" smtClean="0"/>
              <a:t>NPD is a </a:t>
            </a:r>
            <a:r>
              <a:rPr lang="en-US" sz="3100" b="1" dirty="0" smtClean="0">
                <a:solidFill>
                  <a:srgbClr val="922E7F"/>
                </a:solidFill>
              </a:rPr>
              <a:t>critical activity </a:t>
            </a:r>
            <a:r>
              <a:rPr lang="en-US" sz="3100" b="1" dirty="0" smtClean="0"/>
              <a:t>because of; </a:t>
            </a:r>
          </a:p>
          <a:p>
            <a:pPr marL="639128" lvl="1" indent="369888">
              <a:spcBef>
                <a:spcPts val="600"/>
              </a:spcBef>
              <a:buClr>
                <a:srgbClr val="7030A0"/>
              </a:buClr>
              <a:buSzPct val="99000"/>
              <a:buFont typeface="Wingdings" pitchFamily="2" charset="2"/>
              <a:buChar char="Ü"/>
            </a:pPr>
            <a:r>
              <a:rPr lang="en-US" sz="3100" b="1" i="1" dirty="0" smtClean="0">
                <a:solidFill>
                  <a:srgbClr val="7030A0"/>
                </a:solidFill>
              </a:rPr>
              <a:t>Intense global competition</a:t>
            </a:r>
          </a:p>
          <a:p>
            <a:pPr marL="639128" lvl="1" indent="369888">
              <a:spcBef>
                <a:spcPts val="600"/>
              </a:spcBef>
              <a:buClr>
                <a:srgbClr val="7030A0"/>
              </a:buClr>
              <a:buSzPct val="99000"/>
              <a:buFont typeface="Wingdings" pitchFamily="2" charset="2"/>
              <a:buChar char="Ü"/>
            </a:pPr>
            <a:r>
              <a:rPr lang="en-US" sz="3100" b="1" i="1" dirty="0" smtClean="0">
                <a:solidFill>
                  <a:srgbClr val="7030A0"/>
                </a:solidFill>
              </a:rPr>
              <a:t>Short product and technology lifecycles</a:t>
            </a:r>
          </a:p>
          <a:p>
            <a:pPr marL="639128" lvl="1" indent="369888">
              <a:spcBef>
                <a:spcPts val="600"/>
              </a:spcBef>
              <a:buClr>
                <a:srgbClr val="7030A0"/>
              </a:buClr>
              <a:buSzPct val="99000"/>
              <a:buFont typeface="Wingdings" pitchFamily="2" charset="2"/>
              <a:buChar char="Ü"/>
            </a:pPr>
            <a:r>
              <a:rPr lang="en-US" sz="3100" b="1" i="1" dirty="0" smtClean="0">
                <a:solidFill>
                  <a:srgbClr val="7030A0"/>
                </a:solidFill>
              </a:rPr>
              <a:t>Unpredictable consumer buying patterns and </a:t>
            </a:r>
          </a:p>
          <a:p>
            <a:pPr marL="639128" lvl="1" indent="369888">
              <a:spcBef>
                <a:spcPts val="600"/>
              </a:spcBef>
              <a:buClr>
                <a:srgbClr val="7030A0"/>
              </a:buClr>
              <a:buSzPct val="99000"/>
              <a:buFont typeface="Wingdings" pitchFamily="2" charset="2"/>
              <a:buChar char="Ü"/>
            </a:pPr>
            <a:r>
              <a:rPr lang="en-US" sz="3100" b="1" i="1" dirty="0" smtClean="0">
                <a:solidFill>
                  <a:srgbClr val="7030A0"/>
                </a:solidFill>
              </a:rPr>
              <a:t>Possible market stagnation</a:t>
            </a:r>
          </a:p>
          <a:p>
            <a:pPr>
              <a:buSzPct val="99000"/>
              <a:buNone/>
            </a:pPr>
            <a:endParaRPr lang="en-US" sz="2600" b="1" dirty="0" smtClean="0"/>
          </a:p>
          <a:p>
            <a:pPr marL="0" indent="0">
              <a:buSzPct val="99000"/>
              <a:buNone/>
            </a:pPr>
            <a:endParaRPr lang="en-US" sz="2700" b="1" dirty="0"/>
          </a:p>
          <a:p>
            <a:pPr marL="0" indent="0" algn="just">
              <a:buSzPct val="99000"/>
              <a:buNone/>
            </a:pPr>
            <a:endParaRPr lang="en-US" sz="2800" b="1" dirty="0"/>
          </a:p>
          <a:p>
            <a:pPr marL="0" indent="0" algn="just">
              <a:buNone/>
            </a:pPr>
            <a:endParaRPr lang="en-US" sz="2800" b="1" dirty="0" smtClean="0">
              <a:solidFill>
                <a:srgbClr val="00B050"/>
              </a:solidFill>
            </a:endParaRPr>
          </a:p>
          <a:p>
            <a:pPr algn="just"/>
            <a:endParaRPr lang="en-US" sz="2800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845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57200"/>
          </a:xfr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2800" b="1" dirty="0" smtClean="0">
                <a:solidFill>
                  <a:schemeClr val="tx1"/>
                </a:solidFill>
              </a:rPr>
              <a:t/>
            </a:r>
            <a:br>
              <a:rPr lang="en-US" sz="2800" b="1" dirty="0" smtClean="0">
                <a:solidFill>
                  <a:schemeClr val="tx1"/>
                </a:solidFill>
              </a:rPr>
            </a:br>
            <a:r>
              <a:rPr lang="en-US" sz="2800" b="1" dirty="0" smtClean="0">
                <a:solidFill>
                  <a:schemeClr val="tx1"/>
                </a:solidFill>
              </a:rPr>
              <a:t>  Conti…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609600"/>
            <a:ext cx="9144000" cy="6248400"/>
          </a:xfrm>
        </p:spPr>
        <p:txBody>
          <a:bodyPr>
            <a:normAutofit/>
          </a:bodyPr>
          <a:lstStyle/>
          <a:p>
            <a:pPr marL="457200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" pitchFamily="2" charset="2"/>
              <a:buChar char="®"/>
            </a:pPr>
            <a:r>
              <a:rPr lang="en-US" sz="2800" b="1" dirty="0" smtClean="0"/>
              <a:t>NPD is very expensive and very risky.</a:t>
            </a:r>
          </a:p>
          <a:p>
            <a:pPr marL="457200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" pitchFamily="2" charset="2"/>
              <a:buChar char="®"/>
            </a:pPr>
            <a:r>
              <a:rPr lang="en-US" sz="2800" b="1" dirty="0" smtClean="0"/>
              <a:t>67% of all new product introduced by established companies fail.</a:t>
            </a:r>
          </a:p>
          <a:p>
            <a:pPr marL="457200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" pitchFamily="2" charset="2"/>
              <a:buChar char="®"/>
            </a:pPr>
            <a:r>
              <a:rPr lang="en-US" sz="2800" b="1" dirty="0" smtClean="0">
                <a:solidFill>
                  <a:srgbClr val="FF0000"/>
                </a:solidFill>
              </a:rPr>
              <a:t>Why do so many new product fail?</a:t>
            </a:r>
          </a:p>
          <a:p>
            <a:pPr marL="457200" indent="-365760">
              <a:spcBef>
                <a:spcPts val="600"/>
              </a:spcBef>
              <a:buClr>
                <a:srgbClr val="002060"/>
              </a:buClr>
              <a:buSzPct val="99000"/>
              <a:buNone/>
            </a:pPr>
            <a:r>
              <a:rPr lang="en-US" sz="2800" b="1" dirty="0" smtClean="0">
                <a:solidFill>
                  <a:srgbClr val="002060"/>
                </a:solidFill>
              </a:rPr>
              <a:t>     Reasons:</a:t>
            </a:r>
          </a:p>
          <a:p>
            <a:pPr marL="1143000" lvl="2" indent="-365760">
              <a:spcBef>
                <a:spcPts val="0"/>
              </a:spcBef>
              <a:buClr>
                <a:srgbClr val="002060"/>
              </a:buClr>
              <a:buSzPct val="99000"/>
              <a:buFont typeface="+mj-lt"/>
              <a:buAutoNum type="arabicPeriod"/>
            </a:pPr>
            <a:r>
              <a:rPr lang="en-US" sz="2800" b="1" dirty="0" smtClean="0">
                <a:solidFill>
                  <a:srgbClr val="002060"/>
                </a:solidFill>
              </a:rPr>
              <a:t>Over estimate market size</a:t>
            </a:r>
          </a:p>
          <a:p>
            <a:pPr marL="1143000" lvl="2" indent="-365760">
              <a:spcBef>
                <a:spcPts val="0"/>
              </a:spcBef>
              <a:buClr>
                <a:srgbClr val="002060"/>
              </a:buClr>
              <a:buSzPct val="99000"/>
              <a:buFont typeface="+mj-lt"/>
              <a:buAutoNum type="arabicPeriod"/>
            </a:pPr>
            <a:r>
              <a:rPr lang="en-US" sz="2800" b="1" dirty="0" smtClean="0">
                <a:solidFill>
                  <a:srgbClr val="002060"/>
                </a:solidFill>
              </a:rPr>
              <a:t>The actual product may be poorly designed</a:t>
            </a:r>
          </a:p>
          <a:p>
            <a:pPr marL="1143000" lvl="2" indent="-365760">
              <a:spcBef>
                <a:spcPts val="0"/>
              </a:spcBef>
              <a:buClr>
                <a:srgbClr val="002060"/>
              </a:buClr>
              <a:buSzPct val="99000"/>
              <a:buFont typeface="+mj-lt"/>
              <a:buAutoNum type="arabicPeriod"/>
            </a:pPr>
            <a:r>
              <a:rPr lang="en-US" sz="2800" b="1" dirty="0" smtClean="0">
                <a:solidFill>
                  <a:srgbClr val="002060"/>
                </a:solidFill>
              </a:rPr>
              <a:t>Incorrectly positioned</a:t>
            </a:r>
          </a:p>
          <a:p>
            <a:pPr marL="1143000" lvl="2" indent="-365760">
              <a:spcBef>
                <a:spcPts val="0"/>
              </a:spcBef>
              <a:buClr>
                <a:srgbClr val="002060"/>
              </a:buClr>
              <a:buSzPct val="99000"/>
              <a:buFont typeface="+mj-lt"/>
              <a:buAutoNum type="arabicPeriod"/>
            </a:pPr>
            <a:r>
              <a:rPr lang="en-US" sz="2800" b="1" dirty="0" smtClean="0">
                <a:solidFill>
                  <a:srgbClr val="002060"/>
                </a:solidFill>
              </a:rPr>
              <a:t>Launched at the wrong time </a:t>
            </a:r>
          </a:p>
          <a:p>
            <a:pPr marL="1143000" lvl="2" indent="-365760">
              <a:spcBef>
                <a:spcPts val="0"/>
              </a:spcBef>
              <a:buClr>
                <a:srgbClr val="002060"/>
              </a:buClr>
              <a:buSzPct val="99000"/>
              <a:buFont typeface="+mj-lt"/>
              <a:buAutoNum type="arabicPeriod"/>
            </a:pPr>
            <a:r>
              <a:rPr lang="en-US" sz="2800" b="1" dirty="0" smtClean="0">
                <a:solidFill>
                  <a:srgbClr val="002060"/>
                </a:solidFill>
              </a:rPr>
              <a:t>Priced too high</a:t>
            </a:r>
          </a:p>
          <a:p>
            <a:pPr marL="1143000" lvl="2" indent="-365760">
              <a:spcBef>
                <a:spcPts val="0"/>
              </a:spcBef>
              <a:buClr>
                <a:srgbClr val="002060"/>
              </a:buClr>
              <a:buSzPct val="99000"/>
              <a:buFont typeface="+mj-lt"/>
              <a:buAutoNum type="arabicPeriod"/>
            </a:pPr>
            <a:r>
              <a:rPr lang="en-US" sz="2800" b="1" dirty="0" smtClean="0">
                <a:solidFill>
                  <a:srgbClr val="002060"/>
                </a:solidFill>
              </a:rPr>
              <a:t>Poorly advertised</a:t>
            </a:r>
          </a:p>
          <a:p>
            <a:pPr marL="1143000" lvl="2" indent="-365760">
              <a:spcBef>
                <a:spcPts val="0"/>
              </a:spcBef>
              <a:buClr>
                <a:srgbClr val="002060"/>
              </a:buClr>
              <a:buSzPct val="99000"/>
              <a:buFont typeface="+mj-lt"/>
              <a:buAutoNum type="arabicPeriod"/>
            </a:pPr>
            <a:r>
              <a:rPr lang="en-US" sz="2800" b="1" dirty="0" smtClean="0">
                <a:solidFill>
                  <a:srgbClr val="002060"/>
                </a:solidFill>
              </a:rPr>
              <a:t>Poor marketing research findings</a:t>
            </a:r>
          </a:p>
          <a:p>
            <a:pPr marL="1143000" lvl="2" indent="-365760">
              <a:spcBef>
                <a:spcPts val="0"/>
              </a:spcBef>
              <a:buClr>
                <a:srgbClr val="002060"/>
              </a:buClr>
              <a:buSzPct val="99000"/>
              <a:buFont typeface="+mj-lt"/>
              <a:buAutoNum type="arabicPeriod"/>
            </a:pPr>
            <a:r>
              <a:rPr lang="en-US" sz="2800" b="1" dirty="0" smtClean="0">
                <a:solidFill>
                  <a:srgbClr val="002060"/>
                </a:solidFill>
              </a:rPr>
              <a:t>Higher costs of product development</a:t>
            </a:r>
          </a:p>
          <a:p>
            <a:pPr marL="1143000" lvl="2" indent="-365760">
              <a:spcBef>
                <a:spcPts val="0"/>
              </a:spcBef>
              <a:buClr>
                <a:srgbClr val="002060"/>
              </a:buClr>
              <a:buSzPct val="99000"/>
              <a:buFont typeface="+mj-lt"/>
              <a:buAutoNum type="arabicPeriod"/>
            </a:pPr>
            <a:r>
              <a:rPr lang="en-US" sz="2800" b="1" dirty="0" smtClean="0">
                <a:solidFill>
                  <a:srgbClr val="002060"/>
                </a:solidFill>
              </a:rPr>
              <a:t>Competitors fight back</a:t>
            </a:r>
          </a:p>
          <a:p>
            <a:pPr marL="548640" indent="-457200">
              <a:spcBef>
                <a:spcPts val="600"/>
              </a:spcBef>
              <a:buClr>
                <a:srgbClr val="002060"/>
              </a:buClr>
              <a:buSzPct val="99000"/>
              <a:buFont typeface="+mj-lt"/>
              <a:buAutoNum type="arabicPeriod"/>
            </a:pPr>
            <a:endParaRPr lang="en-US" sz="2400" b="1" dirty="0" smtClean="0">
              <a:solidFill>
                <a:srgbClr val="002060"/>
              </a:solidFill>
            </a:endParaRPr>
          </a:p>
          <a:p>
            <a:pPr marL="548640" indent="-457200">
              <a:spcBef>
                <a:spcPts val="600"/>
              </a:spcBef>
              <a:buClr>
                <a:srgbClr val="002060"/>
              </a:buClr>
              <a:buSzPct val="99000"/>
              <a:buFont typeface="+mj-lt"/>
              <a:buAutoNum type="arabicPeriod"/>
            </a:pPr>
            <a:endParaRPr lang="en-US" sz="2400" b="1" dirty="0" smtClean="0">
              <a:solidFill>
                <a:srgbClr val="002060"/>
              </a:solidFill>
            </a:endParaRPr>
          </a:p>
          <a:p>
            <a:pPr marL="457200" indent="-365760">
              <a:spcBef>
                <a:spcPts val="600"/>
              </a:spcBef>
              <a:buClr>
                <a:srgbClr val="002060"/>
              </a:buClr>
              <a:buSzPct val="99000"/>
              <a:buFont typeface="Wingdings" pitchFamily="2" charset="2"/>
              <a:buChar char="®"/>
            </a:pPr>
            <a:endParaRPr lang="en-US" sz="2400" b="1" dirty="0" smtClean="0"/>
          </a:p>
          <a:p>
            <a:pPr marL="0" indent="0">
              <a:buSzPct val="99000"/>
              <a:buNone/>
            </a:pPr>
            <a:endParaRPr lang="en-US" sz="2700" b="1" dirty="0"/>
          </a:p>
          <a:p>
            <a:pPr marL="0" indent="0" algn="just">
              <a:buSzPct val="99000"/>
              <a:buNone/>
            </a:pPr>
            <a:endParaRPr lang="en-US" sz="2800" b="1" dirty="0"/>
          </a:p>
          <a:p>
            <a:pPr marL="0" indent="0" algn="just">
              <a:buNone/>
            </a:pPr>
            <a:endParaRPr lang="en-US" sz="2800" b="1" dirty="0" smtClean="0">
              <a:solidFill>
                <a:srgbClr val="00B050"/>
              </a:solidFill>
            </a:endParaRPr>
          </a:p>
          <a:p>
            <a:pPr algn="just"/>
            <a:endParaRPr lang="en-US" sz="2800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845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1000"/>
          </a:xfr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2800" b="1" dirty="0" smtClean="0">
                <a:solidFill>
                  <a:schemeClr val="tx1"/>
                </a:solidFill>
              </a:rPr>
              <a:t/>
            </a:r>
            <a:br>
              <a:rPr lang="en-US" sz="2800" b="1" dirty="0" smtClean="0">
                <a:solidFill>
                  <a:schemeClr val="tx1"/>
                </a:solidFill>
              </a:rPr>
            </a:br>
            <a:r>
              <a:rPr lang="en-US" sz="2800" b="1" dirty="0" smtClean="0">
                <a:solidFill>
                  <a:schemeClr val="tx1"/>
                </a:solidFill>
              </a:rPr>
              <a:t>  Conti…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609600"/>
            <a:ext cx="9144000" cy="6248400"/>
          </a:xfrm>
        </p:spPr>
        <p:txBody>
          <a:bodyPr>
            <a:normAutofit/>
          </a:bodyPr>
          <a:lstStyle/>
          <a:p>
            <a:pPr marL="457200" indent="-365760">
              <a:spcBef>
                <a:spcPts val="0"/>
              </a:spcBef>
              <a:buClr>
                <a:srgbClr val="002060"/>
              </a:buClr>
              <a:buSzPct val="99000"/>
              <a:buNone/>
            </a:pPr>
            <a:r>
              <a:rPr lang="en-US" sz="2600" b="1" dirty="0" smtClean="0">
                <a:solidFill>
                  <a:srgbClr val="002060"/>
                </a:solidFill>
              </a:rPr>
              <a:t>     Solution:</a:t>
            </a:r>
          </a:p>
          <a:p>
            <a:pPr marL="457200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" pitchFamily="2" charset="2"/>
              <a:buChar char="®"/>
            </a:pPr>
            <a:r>
              <a:rPr lang="en-US" sz="2400" b="1" dirty="0" smtClean="0"/>
              <a:t>Companies must take a </a:t>
            </a:r>
            <a:r>
              <a:rPr lang="en-US" sz="2400" b="1" u="sng" dirty="0" smtClean="0">
                <a:solidFill>
                  <a:srgbClr val="922E7F"/>
                </a:solidFill>
              </a:rPr>
              <a:t>holistic approach</a:t>
            </a:r>
            <a:r>
              <a:rPr lang="en-US" sz="2400" b="1" dirty="0" smtClean="0"/>
              <a:t> to NPD</a:t>
            </a:r>
          </a:p>
          <a:p>
            <a:pPr marL="548640" indent="-365760">
              <a:spcBef>
                <a:spcPts val="0"/>
              </a:spcBef>
              <a:buClr>
                <a:srgbClr val="002060"/>
              </a:buClr>
              <a:buSzPct val="99000"/>
              <a:buFont typeface="+mj-lt"/>
              <a:buAutoNum type="arabicPeriod"/>
            </a:pPr>
            <a:r>
              <a:rPr lang="en-US" sz="2500" b="1" dirty="0" smtClean="0">
                <a:solidFill>
                  <a:srgbClr val="002060"/>
                </a:solidFill>
              </a:rPr>
              <a:t>Customer - centered new product development</a:t>
            </a:r>
          </a:p>
          <a:p>
            <a:pPr marL="868680" lvl="1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 3" pitchFamily="18" charset="2"/>
              <a:buChar char="´"/>
            </a:pPr>
            <a:r>
              <a:rPr lang="en-US" sz="2400" b="1" dirty="0" smtClean="0"/>
              <a:t>Focus on finding new ways to solve customer problem and create more customer satisfying experiences.</a:t>
            </a:r>
          </a:p>
          <a:p>
            <a:pPr marL="548640" indent="-365760">
              <a:spcBef>
                <a:spcPts val="600"/>
              </a:spcBef>
              <a:buClr>
                <a:srgbClr val="002060"/>
              </a:buClr>
              <a:buSzPct val="99000"/>
              <a:buFont typeface="+mj-lt"/>
              <a:buAutoNum type="arabicPeriod"/>
            </a:pPr>
            <a:r>
              <a:rPr lang="en-US" sz="2500" b="1" dirty="0" smtClean="0">
                <a:solidFill>
                  <a:srgbClr val="002060"/>
                </a:solidFill>
              </a:rPr>
              <a:t>Team - based new product development</a:t>
            </a:r>
          </a:p>
          <a:p>
            <a:pPr marL="868680" lvl="1" indent="-365760">
              <a:spcBef>
                <a:spcPts val="600"/>
              </a:spcBef>
              <a:buClr>
                <a:srgbClr val="002060"/>
              </a:buClr>
              <a:buSzPct val="99000"/>
              <a:buFont typeface="Wingdings 3" pitchFamily="18" charset="2"/>
              <a:buChar char="´"/>
            </a:pPr>
            <a:r>
              <a:rPr lang="en-US" sz="2400" b="1" dirty="0" smtClean="0"/>
              <a:t>Various companies departments work closely together, overlapping the product development process to save time and increase effectiveness.</a:t>
            </a:r>
          </a:p>
          <a:p>
            <a:pPr marL="548640" indent="-365760">
              <a:spcBef>
                <a:spcPts val="600"/>
              </a:spcBef>
              <a:buClr>
                <a:srgbClr val="002060"/>
              </a:buClr>
              <a:buSzPct val="99000"/>
              <a:buFont typeface="+mj-lt"/>
              <a:buAutoNum type="arabicPeriod"/>
            </a:pPr>
            <a:r>
              <a:rPr lang="en-US" sz="2500" b="1" dirty="0" smtClean="0">
                <a:solidFill>
                  <a:srgbClr val="002060"/>
                </a:solidFill>
              </a:rPr>
              <a:t>Systematic new product development</a:t>
            </a:r>
          </a:p>
          <a:p>
            <a:pPr marL="868680" lvl="1" indent="-365760">
              <a:spcBef>
                <a:spcPts val="600"/>
              </a:spcBef>
              <a:buClr>
                <a:srgbClr val="002060"/>
              </a:buClr>
              <a:buSzPct val="99000"/>
              <a:buFont typeface="Wingdings 3" pitchFamily="18" charset="2"/>
              <a:buChar char="´"/>
            </a:pPr>
            <a:r>
              <a:rPr lang="en-US" sz="2400" b="1" dirty="0" smtClean="0"/>
              <a:t>A company can install an innovation management systems to collect, review, evaluate and manage new product ideas.</a:t>
            </a:r>
          </a:p>
          <a:p>
            <a:pPr marL="457200" indent="-365760">
              <a:spcBef>
                <a:spcPts val="600"/>
              </a:spcBef>
              <a:buClr>
                <a:srgbClr val="002060"/>
              </a:buClr>
              <a:buSzPct val="99000"/>
              <a:buFont typeface="Wingdings" pitchFamily="2" charset="2"/>
              <a:buChar char="®"/>
            </a:pPr>
            <a:endParaRPr lang="en-US" sz="2400" b="1" dirty="0" smtClean="0"/>
          </a:p>
          <a:p>
            <a:pPr marL="0" indent="-365760">
              <a:buSzPct val="99000"/>
              <a:buNone/>
            </a:pPr>
            <a:endParaRPr lang="en-US" sz="2700" b="1" dirty="0"/>
          </a:p>
          <a:p>
            <a:pPr marL="0" indent="-365760" algn="just">
              <a:buSzPct val="99000"/>
              <a:buNone/>
            </a:pPr>
            <a:endParaRPr lang="en-US" sz="2800" b="1" dirty="0"/>
          </a:p>
          <a:p>
            <a:pPr marL="0" indent="-365760" algn="just">
              <a:buNone/>
            </a:pPr>
            <a:endParaRPr lang="en-US" sz="2800" b="1" dirty="0" smtClean="0">
              <a:solidFill>
                <a:srgbClr val="00B050"/>
              </a:solidFill>
            </a:endParaRPr>
          </a:p>
          <a:p>
            <a:pPr indent="-365760" algn="just"/>
            <a:endParaRPr lang="en-US" sz="2800" dirty="0">
              <a:solidFill>
                <a:srgbClr val="00B050"/>
              </a:solidFill>
            </a:endParaRPr>
          </a:p>
          <a:p>
            <a:pPr marL="0" indent="-36576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845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613648" cy="10668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br>
              <a:rPr lang="en-US" sz="2800" b="1" dirty="0" smtClean="0">
                <a:solidFill>
                  <a:srgbClr val="C0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sz="2800" b="1" dirty="0" smtClean="0">
                <a:solidFill>
                  <a:srgbClr val="C0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   </a:t>
            </a:r>
            <a:r>
              <a:rPr lang="en-US" sz="2800" b="1" dirty="0" smtClean="0">
                <a:solidFill>
                  <a:srgbClr val="C00000"/>
                </a:solidFill>
              </a:rPr>
              <a:t>4.2 The Concept of Product/Service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926" y="1524000"/>
            <a:ext cx="9060873" cy="5334000"/>
          </a:xfrm>
        </p:spPr>
        <p:txBody>
          <a:bodyPr>
            <a:noAutofit/>
          </a:bodyPr>
          <a:lstStyle/>
          <a:p>
            <a:pPr marL="457200" indent="-365760">
              <a:spcBef>
                <a:spcPts val="0"/>
              </a:spcBef>
              <a:buSzPct val="100000"/>
              <a:buFont typeface="Wingdings" pitchFamily="2" charset="2"/>
              <a:buChar char="®"/>
            </a:pPr>
            <a:r>
              <a:rPr lang="en-US" sz="2600" b="1" dirty="0" smtClean="0">
                <a:solidFill>
                  <a:srgbClr val="922E7F"/>
                </a:solidFill>
              </a:rPr>
              <a:t>Organization's success </a:t>
            </a:r>
            <a:r>
              <a:rPr lang="en-US" sz="2600" b="1" dirty="0" smtClean="0"/>
              <a:t>is dependent on customer </a:t>
            </a:r>
            <a:r>
              <a:rPr lang="en-US" sz="2600" b="1" dirty="0" smtClean="0">
                <a:solidFill>
                  <a:srgbClr val="922E7F"/>
                </a:solidFill>
              </a:rPr>
              <a:t>satisfaction </a:t>
            </a:r>
            <a:r>
              <a:rPr lang="en-US" sz="2600" b="1" dirty="0" smtClean="0"/>
              <a:t>and</a:t>
            </a:r>
            <a:r>
              <a:rPr lang="en-US" sz="2600" b="1" dirty="0" smtClean="0">
                <a:solidFill>
                  <a:srgbClr val="922E7F"/>
                </a:solidFill>
              </a:rPr>
              <a:t> delight.</a:t>
            </a:r>
          </a:p>
          <a:p>
            <a:pPr marL="457200" indent="-365760">
              <a:spcBef>
                <a:spcPts val="0"/>
              </a:spcBef>
              <a:buSzPct val="100000"/>
              <a:buFont typeface="Wingdings" pitchFamily="2" charset="2"/>
              <a:buChar char="®"/>
            </a:pPr>
            <a:r>
              <a:rPr lang="en-US" sz="2600" b="1" dirty="0" smtClean="0"/>
              <a:t>Customer satisfaction is achieved through the development of product and service, which have all </a:t>
            </a:r>
            <a:r>
              <a:rPr lang="en-US" sz="2600" b="1" dirty="0" smtClean="0">
                <a:solidFill>
                  <a:srgbClr val="922E7F"/>
                </a:solidFill>
              </a:rPr>
              <a:t>attributes</a:t>
            </a:r>
            <a:r>
              <a:rPr lang="en-US" sz="2600" b="1" dirty="0" smtClean="0"/>
              <a:t> required by the customer.</a:t>
            </a:r>
            <a:endParaRPr lang="en-US" sz="2600" b="1" dirty="0" smtClean="0">
              <a:solidFill>
                <a:srgbClr val="7030A0"/>
              </a:solidFill>
            </a:endParaRPr>
          </a:p>
          <a:p>
            <a:pPr marL="457200" indent="-365760">
              <a:spcBef>
                <a:spcPts val="0"/>
              </a:spcBef>
              <a:buSzPct val="100000"/>
              <a:buFont typeface="Wingdings" pitchFamily="2" charset="2"/>
              <a:buChar char="®"/>
            </a:pPr>
            <a:r>
              <a:rPr lang="en-US" sz="2600" b="1" dirty="0" smtClean="0">
                <a:solidFill>
                  <a:srgbClr val="7030A0"/>
                </a:solidFill>
              </a:rPr>
              <a:t> </a:t>
            </a:r>
            <a:r>
              <a:rPr lang="en-US" sz="2600" b="1" dirty="0" smtClean="0"/>
              <a:t>A successful product or services do not only have an </a:t>
            </a:r>
            <a:r>
              <a:rPr lang="en-US" sz="2600" b="1" dirty="0" smtClean="0">
                <a:solidFill>
                  <a:srgbClr val="922E7F"/>
                </a:solidFill>
              </a:rPr>
              <a:t>attractive package design </a:t>
            </a:r>
            <a:r>
              <a:rPr lang="en-US" sz="2600" b="1" dirty="0" smtClean="0"/>
              <a:t>but should be also able to provide </a:t>
            </a:r>
            <a:r>
              <a:rPr lang="en-US" sz="2600" b="1" dirty="0" smtClean="0">
                <a:solidFill>
                  <a:srgbClr val="922E7F"/>
                </a:solidFill>
              </a:rPr>
              <a:t>robust performance.</a:t>
            </a:r>
          </a:p>
          <a:p>
            <a:pPr marL="457200" indent="-365760">
              <a:spcBef>
                <a:spcPts val="0"/>
              </a:spcBef>
              <a:buSzPct val="100000"/>
              <a:buFont typeface="Wingdings" pitchFamily="2" charset="2"/>
              <a:buChar char="®"/>
            </a:pPr>
            <a:r>
              <a:rPr lang="en-US" sz="2600" b="1" dirty="0" smtClean="0"/>
              <a:t>The essence of </a:t>
            </a:r>
            <a:r>
              <a:rPr lang="en-US" sz="2600" b="1" dirty="0" smtClean="0">
                <a:solidFill>
                  <a:srgbClr val="922E7F"/>
                </a:solidFill>
              </a:rPr>
              <a:t>product design </a:t>
            </a:r>
            <a:r>
              <a:rPr lang="en-US" sz="2600" b="1" dirty="0" smtClean="0"/>
              <a:t>is to satisfy customer and </a:t>
            </a:r>
            <a:r>
              <a:rPr lang="en-US" sz="2600" b="1" dirty="0" smtClean="0">
                <a:solidFill>
                  <a:srgbClr val="922E7F"/>
                </a:solidFill>
              </a:rPr>
              <a:t>maximizes the value </a:t>
            </a:r>
            <a:r>
              <a:rPr lang="en-US" sz="2600" b="1" dirty="0" smtClean="0"/>
              <a:t>for the customer at </a:t>
            </a:r>
            <a:r>
              <a:rPr lang="en-US" sz="2600" b="1" dirty="0" smtClean="0">
                <a:solidFill>
                  <a:srgbClr val="922E7F"/>
                </a:solidFill>
              </a:rPr>
              <a:t>minimum cost.</a:t>
            </a:r>
          </a:p>
          <a:p>
            <a:pPr marL="457200" indent="-365760">
              <a:spcBef>
                <a:spcPts val="0"/>
              </a:spcBef>
              <a:buSzPct val="100000"/>
              <a:buFont typeface="Wingdings" pitchFamily="2" charset="2"/>
              <a:buChar char="®"/>
            </a:pPr>
            <a:r>
              <a:rPr lang="en-US" sz="2600" b="1" dirty="0" smtClean="0"/>
              <a:t>The product or service should also be able to meet </a:t>
            </a:r>
            <a:r>
              <a:rPr lang="en-US" sz="2600" b="1" dirty="0" smtClean="0">
                <a:solidFill>
                  <a:srgbClr val="922E7F"/>
                </a:solidFill>
              </a:rPr>
              <a:t>primary needs and desire </a:t>
            </a:r>
            <a:r>
              <a:rPr lang="en-US" sz="2600" b="1" dirty="0" smtClean="0"/>
              <a:t>of the customer.</a:t>
            </a:r>
          </a:p>
        </p:txBody>
      </p:sp>
    </p:spTree>
    <p:extLst>
      <p:ext uri="{BB962C8B-B14F-4D97-AF65-F5344CB8AC3E}">
        <p14:creationId xmlns:p14="http://schemas.microsoft.com/office/powerpoint/2010/main" val="2777564419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613648" cy="9906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/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   4.3 Product/Service Development Process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600200"/>
            <a:ext cx="9144000" cy="52578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buSzPct val="100000"/>
              <a:buNone/>
            </a:pPr>
            <a:r>
              <a:rPr lang="en-US" sz="2500" b="1" dirty="0" smtClean="0"/>
              <a:t>    </a:t>
            </a:r>
            <a:r>
              <a:rPr lang="en-US" sz="2600" b="1" dirty="0" smtClean="0">
                <a:solidFill>
                  <a:srgbClr val="FF0000"/>
                </a:solidFill>
              </a:rPr>
              <a:t>What is product/service development process?</a:t>
            </a:r>
          </a:p>
          <a:p>
            <a:pPr marL="457200" indent="-365760">
              <a:spcBef>
                <a:spcPts val="0"/>
              </a:spcBef>
              <a:buSzPct val="99000"/>
              <a:buFont typeface="Wingdings" pitchFamily="2" charset="2"/>
              <a:buChar char="®"/>
            </a:pPr>
            <a:r>
              <a:rPr lang="en-US" sz="2600" b="1" dirty="0" smtClean="0"/>
              <a:t>Product development is the process t</a:t>
            </a:r>
            <a:r>
              <a:rPr lang="en-US" sz="2600" b="1" dirty="0" smtClean="0">
                <a:solidFill>
                  <a:srgbClr val="0000FF"/>
                </a:solidFill>
              </a:rPr>
              <a:t>hrough which companies </a:t>
            </a:r>
            <a:r>
              <a:rPr lang="en-US" sz="2600" b="1" dirty="0">
                <a:solidFill>
                  <a:srgbClr val="0000FF"/>
                </a:solidFill>
              </a:rPr>
              <a:t>react to</a:t>
            </a:r>
            <a:r>
              <a:rPr lang="en-US" sz="2600" b="1" dirty="0"/>
              <a:t>;</a:t>
            </a:r>
            <a:endParaRPr lang="en-US" sz="2600" b="1" dirty="0" smtClean="0"/>
          </a:p>
          <a:p>
            <a:pPr marL="1343660" lvl="2" indent="-365760">
              <a:spcBef>
                <a:spcPts val="0"/>
              </a:spcBef>
              <a:buClr>
                <a:srgbClr val="0033CC"/>
              </a:buClr>
              <a:buSzPct val="99000"/>
              <a:buFont typeface="Wingdings" panose="05000000000000000000" pitchFamily="2" charset="2"/>
              <a:buChar char="Ä"/>
            </a:pPr>
            <a:r>
              <a:rPr lang="en-US" sz="2600" b="1" i="1" dirty="0"/>
              <a:t>M</a:t>
            </a:r>
            <a:r>
              <a:rPr lang="en-US" sz="2600" b="1" i="1" dirty="0" smtClean="0"/>
              <a:t>arket signals</a:t>
            </a:r>
          </a:p>
          <a:p>
            <a:pPr marL="1343660" lvl="2" indent="-365760">
              <a:spcBef>
                <a:spcPts val="0"/>
              </a:spcBef>
              <a:buClr>
                <a:srgbClr val="0033CC"/>
              </a:buClr>
              <a:buSzPct val="99000"/>
              <a:buFont typeface="Wingdings" panose="05000000000000000000" pitchFamily="2" charset="2"/>
              <a:buChar char="Ä"/>
            </a:pPr>
            <a:r>
              <a:rPr lang="en-US" sz="2600" b="1" i="1" dirty="0" smtClean="0"/>
              <a:t>Respond to changes in customer demand</a:t>
            </a:r>
          </a:p>
          <a:p>
            <a:pPr marL="1343660" lvl="2" indent="-365760">
              <a:spcBef>
                <a:spcPts val="0"/>
              </a:spcBef>
              <a:buClr>
                <a:srgbClr val="0033CC"/>
              </a:buClr>
              <a:buSzPct val="99000"/>
              <a:buFont typeface="Wingdings" panose="05000000000000000000" pitchFamily="2" charset="2"/>
              <a:buChar char="Ä"/>
            </a:pPr>
            <a:r>
              <a:rPr lang="en-US" sz="2600" b="1" i="1" dirty="0" smtClean="0"/>
              <a:t>Adopt new technologies</a:t>
            </a:r>
          </a:p>
          <a:p>
            <a:pPr marL="1343660" lvl="2" indent="-365760">
              <a:spcBef>
                <a:spcPts val="0"/>
              </a:spcBef>
              <a:buClr>
                <a:srgbClr val="0033CC"/>
              </a:buClr>
              <a:buSzPct val="99000"/>
              <a:buFont typeface="Wingdings" panose="05000000000000000000" pitchFamily="2" charset="2"/>
              <a:buChar char="Ä"/>
            </a:pPr>
            <a:r>
              <a:rPr lang="en-US" sz="2600" b="1" i="1" dirty="0" smtClean="0"/>
              <a:t>Foray into new areas</a:t>
            </a:r>
          </a:p>
          <a:p>
            <a:pPr marL="1343660" lvl="2" indent="-365760">
              <a:spcBef>
                <a:spcPts val="0"/>
              </a:spcBef>
              <a:buClr>
                <a:srgbClr val="0033CC"/>
              </a:buClr>
              <a:buSzPct val="99000"/>
              <a:buFont typeface="Wingdings" panose="05000000000000000000" pitchFamily="2" charset="2"/>
              <a:buChar char="Ä"/>
            </a:pPr>
            <a:r>
              <a:rPr lang="en-US" sz="2600" b="1" i="1" dirty="0" smtClean="0"/>
              <a:t>Ensure continuous growth.</a:t>
            </a:r>
            <a:r>
              <a:rPr lang="en-US" sz="2600" b="1" dirty="0" smtClean="0">
                <a:solidFill>
                  <a:srgbClr val="0033CC"/>
                </a:solidFill>
              </a:rPr>
              <a:t> </a:t>
            </a:r>
          </a:p>
          <a:p>
            <a:pPr marL="457200" indent="-365760">
              <a:spcBef>
                <a:spcPts val="0"/>
              </a:spcBef>
              <a:buSzPct val="99000"/>
              <a:buFont typeface="Wingdings" pitchFamily="2" charset="2"/>
              <a:buChar char="®"/>
            </a:pPr>
            <a:r>
              <a:rPr lang="en-US" sz="2600" b="1" dirty="0" smtClean="0"/>
              <a:t>It is a core process in:</a:t>
            </a:r>
          </a:p>
          <a:p>
            <a:pPr lvl="2" indent="-365760">
              <a:spcBef>
                <a:spcPts val="0"/>
              </a:spcBef>
              <a:buClr>
                <a:srgbClr val="922E7F"/>
              </a:buClr>
              <a:buSzPct val="99000"/>
              <a:buFont typeface="Wingdings" pitchFamily="2" charset="2"/>
              <a:buChar char="Ü"/>
            </a:pPr>
            <a:r>
              <a:rPr lang="en-US" sz="2600" b="1" dirty="0" smtClean="0">
                <a:solidFill>
                  <a:srgbClr val="922E7F"/>
                </a:solidFill>
              </a:rPr>
              <a:t>achieving</a:t>
            </a:r>
            <a:r>
              <a:rPr lang="en-US" sz="2600" b="1" dirty="0" smtClean="0"/>
              <a:t> strategic objectives</a:t>
            </a:r>
          </a:p>
          <a:p>
            <a:pPr lvl="2" indent="-365760">
              <a:spcBef>
                <a:spcPts val="0"/>
              </a:spcBef>
              <a:buClr>
                <a:srgbClr val="922E7F"/>
              </a:buClr>
              <a:buSzPct val="99000"/>
              <a:buFont typeface="Wingdings" pitchFamily="2" charset="2"/>
              <a:buChar char="Ü"/>
            </a:pPr>
            <a:r>
              <a:rPr lang="en-US" sz="2600" b="1" i="1" dirty="0" smtClean="0">
                <a:solidFill>
                  <a:srgbClr val="922E7F"/>
                </a:solidFill>
              </a:rPr>
              <a:t>renewal</a:t>
            </a:r>
            <a:r>
              <a:rPr lang="en-US" sz="2600" b="1" i="1" dirty="0" smtClean="0"/>
              <a:t> of the company business model and </a:t>
            </a:r>
          </a:p>
          <a:p>
            <a:pPr lvl="2" indent="-365760">
              <a:spcBef>
                <a:spcPts val="0"/>
              </a:spcBef>
              <a:buClr>
                <a:srgbClr val="922E7F"/>
              </a:buClr>
              <a:buSzPct val="99000"/>
              <a:buFont typeface="Wingdings" pitchFamily="2" charset="2"/>
              <a:buChar char="Ü"/>
            </a:pPr>
            <a:r>
              <a:rPr lang="en-US" sz="2600" b="1" i="1" dirty="0" smtClean="0">
                <a:solidFill>
                  <a:srgbClr val="922E7F"/>
                </a:solidFill>
              </a:rPr>
              <a:t>deterring</a:t>
            </a:r>
            <a:r>
              <a:rPr lang="en-US" sz="2600" b="1" i="1" dirty="0" smtClean="0"/>
              <a:t> competition from displacing the company from its market position.</a:t>
            </a:r>
          </a:p>
        </p:txBody>
      </p:sp>
    </p:spTree>
    <p:extLst>
      <p:ext uri="{BB962C8B-B14F-4D97-AF65-F5344CB8AC3E}">
        <p14:creationId xmlns:p14="http://schemas.microsoft.com/office/powerpoint/2010/main" val="7092254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839200" cy="990600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/>
            </a:r>
            <a:br>
              <a:rPr lang="en-US" sz="2400" b="1" dirty="0" smtClean="0">
                <a:solidFill>
                  <a:srgbClr val="7030A0"/>
                </a:solidFill>
              </a:rPr>
            </a:br>
            <a:r>
              <a:rPr lang="en-US" sz="2400" b="1" dirty="0" smtClean="0">
                <a:solidFill>
                  <a:srgbClr val="7030A0"/>
                </a:solidFill>
              </a:rPr>
              <a:t>There are 4 distinct stages in Product/service development process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600200"/>
            <a:ext cx="8839200" cy="5105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5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Idea Generation </a:t>
            </a:r>
            <a:r>
              <a:rPr lang="en-US" sz="25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Incubation </a:t>
            </a:r>
            <a:r>
              <a:rPr lang="en-US" sz="25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Implementation </a:t>
            </a:r>
            <a:r>
              <a:rPr lang="en-US" sz="2500" b="1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Diffusion</a:t>
            </a:r>
          </a:p>
          <a:p>
            <a:pPr>
              <a:buNone/>
            </a:pPr>
            <a:endParaRPr lang="en-US" sz="2600" b="1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/>
          </a:blip>
          <a:srcRect/>
          <a:stretch>
            <a:fillRect/>
          </a:stretch>
        </p:blipFill>
        <p:spPr bwMode="auto">
          <a:xfrm>
            <a:off x="152401" y="2057400"/>
            <a:ext cx="8839200" cy="472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092254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613648" cy="533400"/>
          </a:xfrm>
        </p:spPr>
        <p:txBody>
          <a:bodyPr>
            <a:normAutofit/>
          </a:bodyPr>
          <a:lstStyle/>
          <a:p>
            <a:r>
              <a:rPr lang="en-US" sz="2500" b="1" dirty="0" smtClean="0"/>
              <a:t> </a:t>
            </a:r>
            <a:r>
              <a:rPr lang="en-US" sz="2500" b="1" dirty="0" smtClean="0">
                <a:solidFill>
                  <a:srgbClr val="7030A0"/>
                </a:solidFill>
              </a:rPr>
              <a:t>Stages of new product development process are: </a:t>
            </a:r>
            <a:endParaRPr lang="en-US" sz="25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381000"/>
            <a:ext cx="9144000" cy="64770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800" b="1" dirty="0" smtClean="0">
                <a:solidFill>
                  <a:srgbClr val="C00000"/>
                </a:solidFill>
              </a:rPr>
              <a:t>  1. New Idea Generation</a:t>
            </a:r>
            <a:endParaRPr lang="en-US" sz="2800" b="1" dirty="0" smtClean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365760">
              <a:spcBef>
                <a:spcPts val="0"/>
              </a:spcBef>
              <a:buSzPct val="99000"/>
              <a:buFont typeface="Wingdings" pitchFamily="2" charset="2"/>
              <a:buChar char="®"/>
            </a:pPr>
            <a:r>
              <a:rPr lang="en-US" sz="2600" b="1" dirty="0" smtClean="0"/>
              <a:t>Starts with search for ideas. Sources of ideas include:</a:t>
            </a:r>
          </a:p>
          <a:p>
            <a:pPr marL="1005840" lvl="2" indent="-365760">
              <a:spcBef>
                <a:spcPts val="0"/>
              </a:spcBef>
              <a:buClr>
                <a:srgbClr val="C00000"/>
              </a:buClr>
              <a:buSzPct val="99000"/>
              <a:buFont typeface="Wingdings" pitchFamily="2" charset="2"/>
              <a:buChar char="Ü"/>
            </a:pPr>
            <a:r>
              <a:rPr lang="en-US" sz="2500" b="1" i="1" dirty="0" smtClean="0">
                <a:solidFill>
                  <a:srgbClr val="C00000"/>
                </a:solidFill>
              </a:rPr>
              <a:t>Consumers, </a:t>
            </a:r>
          </a:p>
          <a:p>
            <a:pPr marL="1005840" lvl="2" indent="-365760">
              <a:spcBef>
                <a:spcPts val="0"/>
              </a:spcBef>
              <a:buClr>
                <a:srgbClr val="C00000"/>
              </a:buClr>
              <a:buSzPct val="99000"/>
              <a:buFont typeface="Wingdings" pitchFamily="2" charset="2"/>
              <a:buChar char="Ü"/>
            </a:pPr>
            <a:r>
              <a:rPr lang="en-US" sz="2500" b="1" i="1" dirty="0" smtClean="0">
                <a:solidFill>
                  <a:srgbClr val="C00000"/>
                </a:solidFill>
              </a:rPr>
              <a:t>Existing products and services, </a:t>
            </a:r>
          </a:p>
          <a:p>
            <a:pPr marL="1005840" lvl="2" indent="-365760">
              <a:spcBef>
                <a:spcPts val="0"/>
              </a:spcBef>
              <a:buClr>
                <a:srgbClr val="C00000"/>
              </a:buClr>
              <a:buSzPct val="99000"/>
              <a:buFont typeface="Wingdings" pitchFamily="2" charset="2"/>
              <a:buChar char="Ü"/>
            </a:pPr>
            <a:r>
              <a:rPr lang="en-US" sz="2500" b="1" i="1" dirty="0" smtClean="0">
                <a:solidFill>
                  <a:srgbClr val="C00000"/>
                </a:solidFill>
              </a:rPr>
              <a:t>Distribution channels, </a:t>
            </a:r>
          </a:p>
          <a:p>
            <a:pPr marL="1005840" lvl="2" indent="-365760">
              <a:spcBef>
                <a:spcPts val="0"/>
              </a:spcBef>
              <a:buClr>
                <a:srgbClr val="C00000"/>
              </a:buClr>
              <a:buSzPct val="99000"/>
              <a:buFont typeface="Wingdings" pitchFamily="2" charset="2"/>
              <a:buChar char="Ü"/>
            </a:pPr>
            <a:r>
              <a:rPr lang="en-US" sz="2500" b="1" i="1" dirty="0" smtClean="0">
                <a:solidFill>
                  <a:srgbClr val="C00000"/>
                </a:solidFill>
              </a:rPr>
              <a:t>The federal government, and </a:t>
            </a:r>
          </a:p>
          <a:p>
            <a:pPr marL="1005840" lvl="2" indent="-365760">
              <a:spcBef>
                <a:spcPts val="0"/>
              </a:spcBef>
              <a:buClr>
                <a:srgbClr val="C00000"/>
              </a:buClr>
              <a:buSzPct val="99000"/>
              <a:buFont typeface="Wingdings" pitchFamily="2" charset="2"/>
              <a:buChar char="Ü"/>
            </a:pPr>
            <a:r>
              <a:rPr lang="en-US" sz="2500" b="1" i="1" dirty="0" smtClean="0">
                <a:solidFill>
                  <a:srgbClr val="C00000"/>
                </a:solidFill>
              </a:rPr>
              <a:t>Research and development.</a:t>
            </a:r>
          </a:p>
          <a:p>
            <a:pPr lvl="0">
              <a:spcBef>
                <a:spcPts val="0"/>
              </a:spcBef>
              <a:buSzPct val="99000"/>
              <a:buNone/>
            </a:pPr>
            <a:r>
              <a:rPr lang="en-US" sz="2800" b="1" dirty="0" smtClean="0">
                <a:solidFill>
                  <a:srgbClr val="C00000"/>
                </a:solidFill>
              </a:rPr>
              <a:t>  2. Idea Screening </a:t>
            </a:r>
          </a:p>
          <a:p>
            <a:pPr marL="457200" indent="-365760">
              <a:spcBef>
                <a:spcPts val="0"/>
              </a:spcBef>
              <a:buSzPct val="99000"/>
              <a:buFont typeface="Wingdings" pitchFamily="2" charset="2"/>
              <a:buChar char="®"/>
            </a:pPr>
            <a:r>
              <a:rPr lang="en-US" sz="2400" b="1" dirty="0" smtClean="0"/>
              <a:t>Is to </a:t>
            </a:r>
            <a:r>
              <a:rPr lang="en-US" sz="2400" b="1" dirty="0" smtClean="0">
                <a:solidFill>
                  <a:srgbClr val="922E7F"/>
                </a:solidFill>
              </a:rPr>
              <a:t>lessen</a:t>
            </a:r>
            <a:r>
              <a:rPr lang="en-US" sz="2400" b="1" dirty="0" smtClean="0"/>
              <a:t> the number of ideas to </a:t>
            </a:r>
            <a:r>
              <a:rPr lang="en-US" sz="2400" b="1" dirty="0" smtClean="0">
                <a:solidFill>
                  <a:srgbClr val="922E7F"/>
                </a:solidFill>
              </a:rPr>
              <a:t>few vital/valuable ideas.</a:t>
            </a:r>
          </a:p>
          <a:p>
            <a:pPr marL="457200" indent="-365760">
              <a:spcBef>
                <a:spcPts val="0"/>
              </a:spcBef>
              <a:buSzPct val="99000"/>
              <a:buFont typeface="Wingdings" pitchFamily="2" charset="2"/>
              <a:buChar char="®"/>
            </a:pPr>
            <a:r>
              <a:rPr lang="en-US" sz="2400" b="1" dirty="0" smtClean="0"/>
              <a:t>The ideas should be written down and reviewed each week by an idea committee who should </a:t>
            </a:r>
            <a:r>
              <a:rPr lang="en-US" sz="2400" b="1" dirty="0" smtClean="0">
                <a:solidFill>
                  <a:srgbClr val="922E7F"/>
                </a:solidFill>
              </a:rPr>
              <a:t>sort</a:t>
            </a:r>
            <a:r>
              <a:rPr lang="en-US" sz="2400" b="1" dirty="0" smtClean="0"/>
              <a:t> the ideas into three groups- </a:t>
            </a:r>
            <a:r>
              <a:rPr lang="en-US" sz="2400" b="1" i="1" dirty="0" smtClean="0">
                <a:solidFill>
                  <a:srgbClr val="0000FF"/>
                </a:solidFill>
              </a:rPr>
              <a:t>Promising Ideas, Marginal Ideas, </a:t>
            </a:r>
            <a:r>
              <a:rPr lang="en-US" sz="2400" b="1" i="1" dirty="0" smtClean="0"/>
              <a:t>and</a:t>
            </a:r>
            <a:r>
              <a:rPr lang="en-US" sz="2400" b="1" i="1" dirty="0" smtClean="0">
                <a:solidFill>
                  <a:srgbClr val="0000FF"/>
                </a:solidFill>
              </a:rPr>
              <a:t> Rejects</a:t>
            </a:r>
            <a:r>
              <a:rPr lang="en-US" sz="2400" b="1" dirty="0" smtClean="0">
                <a:solidFill>
                  <a:srgbClr val="0000FF"/>
                </a:solidFill>
              </a:rPr>
              <a:t>:</a:t>
            </a:r>
          </a:p>
          <a:p>
            <a:pPr marL="457200" indent="-365760">
              <a:spcBef>
                <a:spcPts val="0"/>
              </a:spcBef>
              <a:buSzPct val="99000"/>
              <a:buFont typeface="Wingdings" pitchFamily="2" charset="2"/>
              <a:buChar char="®"/>
            </a:pPr>
            <a:r>
              <a:rPr lang="en-US" sz="2400" b="1" dirty="0" smtClean="0"/>
              <a:t>Each </a:t>
            </a:r>
            <a:r>
              <a:rPr lang="en-US" sz="2400" b="1" dirty="0" smtClean="0">
                <a:solidFill>
                  <a:srgbClr val="922E7F"/>
                </a:solidFill>
              </a:rPr>
              <a:t>promising</a:t>
            </a:r>
            <a:r>
              <a:rPr lang="en-US" sz="2400" b="1" dirty="0" smtClean="0"/>
              <a:t> idea should be </a:t>
            </a:r>
            <a:r>
              <a:rPr lang="en-US" sz="2400" b="1" dirty="0" smtClean="0">
                <a:solidFill>
                  <a:srgbClr val="FF0000"/>
                </a:solidFill>
              </a:rPr>
              <a:t>researched</a:t>
            </a:r>
            <a:r>
              <a:rPr lang="en-US" sz="2400" b="1" dirty="0" smtClean="0"/>
              <a:t> by committee member.</a:t>
            </a:r>
            <a:endParaRPr lang="en-US" sz="2400" b="1" dirty="0" smtClean="0">
              <a:solidFill>
                <a:srgbClr val="0000FF"/>
              </a:solidFill>
            </a:endParaRPr>
          </a:p>
          <a:p>
            <a:pPr marL="1164273" lvl="2" indent="-225425">
              <a:spcBef>
                <a:spcPts val="0"/>
              </a:spcBef>
              <a:buClr>
                <a:srgbClr val="C00000"/>
              </a:buClr>
              <a:buSzPct val="99000"/>
              <a:buFont typeface="Wingdings" pitchFamily="2" charset="2"/>
              <a:buChar char="®"/>
            </a:pPr>
            <a:endParaRPr lang="en-US" sz="2400" b="1" i="1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2254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613648" cy="990600"/>
          </a:xfrm>
        </p:spPr>
        <p:txBody>
          <a:bodyPr>
            <a:normAutofit/>
          </a:bodyPr>
          <a:lstStyle/>
          <a:p>
            <a:r>
              <a:rPr lang="en-US" sz="2500" b="1" dirty="0" smtClean="0"/>
              <a:t/>
            </a:r>
            <a:br>
              <a:rPr lang="en-US" sz="2500" b="1" dirty="0" smtClean="0"/>
            </a:br>
            <a:r>
              <a:rPr lang="en-US" sz="2500" b="1" dirty="0" smtClean="0"/>
              <a:t>  Conti…</a:t>
            </a:r>
            <a:endParaRPr lang="en-US" sz="25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524000"/>
            <a:ext cx="8839200" cy="51816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SzPct val="99000"/>
              <a:buNone/>
            </a:pPr>
            <a:r>
              <a:rPr lang="en-US" sz="2800" b="1" dirty="0" smtClean="0">
                <a:solidFill>
                  <a:srgbClr val="C00000"/>
                </a:solidFill>
              </a:rPr>
              <a:t>   3. Concept Development and Testing</a:t>
            </a:r>
          </a:p>
          <a:p>
            <a:pPr marL="457200" indent="-365760">
              <a:spcBef>
                <a:spcPts val="0"/>
              </a:spcBef>
              <a:buClr>
                <a:srgbClr val="7030A0"/>
              </a:buClr>
              <a:buSzPct val="99000"/>
              <a:buFont typeface="Wingdings" pitchFamily="2" charset="2"/>
              <a:buChar char="®"/>
            </a:pPr>
            <a:r>
              <a:rPr lang="en-US" sz="2500" b="1" dirty="0" smtClean="0"/>
              <a:t>Attractive ideas must be </a:t>
            </a:r>
            <a:r>
              <a:rPr lang="en-US" sz="2500" b="1" dirty="0" smtClean="0">
                <a:solidFill>
                  <a:srgbClr val="922E7F"/>
                </a:solidFill>
              </a:rPr>
              <a:t>refined</a:t>
            </a:r>
            <a:r>
              <a:rPr lang="en-US" sz="2500" b="1" dirty="0" smtClean="0"/>
              <a:t> into </a:t>
            </a:r>
            <a:r>
              <a:rPr lang="en-US" sz="2500" b="1" dirty="0" smtClean="0">
                <a:solidFill>
                  <a:srgbClr val="922E7F"/>
                </a:solidFill>
              </a:rPr>
              <a:t>meaningful product concepts </a:t>
            </a:r>
            <a:r>
              <a:rPr lang="en-US" sz="2500" b="1" dirty="0" smtClean="0"/>
              <a:t>since people do not purchase ideas but they buy concepts.</a:t>
            </a:r>
          </a:p>
          <a:p>
            <a:pPr marL="457200" indent="-365760">
              <a:spcBef>
                <a:spcPts val="0"/>
              </a:spcBef>
              <a:buClr>
                <a:srgbClr val="7030A0"/>
              </a:buClr>
              <a:buSzPct val="99000"/>
              <a:buFont typeface="Wingdings" pitchFamily="2" charset="2"/>
              <a:buChar char="®"/>
            </a:pPr>
            <a:r>
              <a:rPr lang="en-US" sz="2500" b="1" dirty="0" smtClean="0"/>
              <a:t>The questions asked probably include:-</a:t>
            </a:r>
          </a:p>
          <a:p>
            <a:pPr lvl="2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 3" pitchFamily="18" charset="2"/>
              <a:buChar char="Æ"/>
            </a:pPr>
            <a:r>
              <a:rPr lang="en-US" sz="2400" b="1" i="1" dirty="0" smtClean="0">
                <a:solidFill>
                  <a:srgbClr val="000066"/>
                </a:solidFill>
              </a:rPr>
              <a:t>Who will use the product?</a:t>
            </a:r>
          </a:p>
          <a:p>
            <a:pPr lvl="2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 3" pitchFamily="18" charset="2"/>
              <a:buChar char="Æ"/>
            </a:pPr>
            <a:r>
              <a:rPr lang="en-US" sz="2400" b="1" i="1" dirty="0" smtClean="0">
                <a:solidFill>
                  <a:srgbClr val="000066"/>
                </a:solidFill>
              </a:rPr>
              <a:t>What benefits should the product provide?</a:t>
            </a:r>
          </a:p>
          <a:p>
            <a:pPr lvl="2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 3" pitchFamily="18" charset="2"/>
              <a:buChar char="Æ"/>
            </a:pPr>
            <a:r>
              <a:rPr lang="en-US" sz="2400" b="1" i="1" dirty="0" smtClean="0">
                <a:solidFill>
                  <a:srgbClr val="000066"/>
                </a:solidFill>
              </a:rPr>
              <a:t>When will people consume the product?</a:t>
            </a:r>
          </a:p>
          <a:p>
            <a:pPr marL="457200" indent="-365760">
              <a:spcBef>
                <a:spcPts val="0"/>
              </a:spcBef>
              <a:buClr>
                <a:srgbClr val="7030A0"/>
              </a:buClr>
              <a:buSzPct val="99000"/>
              <a:buFont typeface="Wingdings" pitchFamily="2" charset="2"/>
              <a:buChar char="®"/>
            </a:pPr>
            <a:r>
              <a:rPr lang="en-US" sz="2600" b="1" i="1" dirty="0" smtClean="0">
                <a:solidFill>
                  <a:srgbClr val="7030A0"/>
                </a:solidFill>
              </a:rPr>
              <a:t>Concept Testing</a:t>
            </a:r>
            <a:r>
              <a:rPr lang="en-US" sz="2600" b="1" dirty="0" smtClean="0">
                <a:solidFill>
                  <a:srgbClr val="7030A0"/>
                </a:solidFill>
              </a:rPr>
              <a:t>: </a:t>
            </a:r>
            <a:r>
              <a:rPr lang="en-US" sz="2600" b="1" dirty="0" smtClean="0"/>
              <a:t>- </a:t>
            </a:r>
          </a:p>
          <a:p>
            <a:pPr lvl="1" indent="-365760">
              <a:spcBef>
                <a:spcPts val="0"/>
              </a:spcBef>
              <a:buClr>
                <a:srgbClr val="0000FF"/>
              </a:buClr>
              <a:buSzPct val="99000"/>
              <a:buFont typeface="Wingdings" pitchFamily="2" charset="2"/>
              <a:buChar char="Ü"/>
            </a:pPr>
            <a:r>
              <a:rPr lang="en-US" sz="2500" b="1" i="1" dirty="0" smtClean="0">
                <a:solidFill>
                  <a:srgbClr val="0033CC"/>
                </a:solidFill>
              </a:rPr>
              <a:t>is testing product concepts with an appropriate group of target consumers/customers, and then getting the </a:t>
            </a:r>
            <a:r>
              <a:rPr lang="en-US" sz="2500" b="1" i="1" dirty="0" smtClean="0">
                <a:solidFill>
                  <a:srgbClr val="FF0000"/>
                </a:solidFill>
              </a:rPr>
              <a:t>consumers’ reactions. </a:t>
            </a:r>
          </a:p>
          <a:p>
            <a:pPr lvl="1" indent="-365760">
              <a:spcBef>
                <a:spcPts val="0"/>
              </a:spcBef>
              <a:buClr>
                <a:srgbClr val="0000FF"/>
              </a:buClr>
              <a:buSzPct val="99000"/>
              <a:buFont typeface="Wingdings" pitchFamily="2" charset="2"/>
              <a:buChar char="Ü"/>
            </a:pPr>
            <a:r>
              <a:rPr lang="en-US" sz="2500" b="1" i="1" dirty="0" smtClean="0">
                <a:solidFill>
                  <a:srgbClr val="0033CC"/>
                </a:solidFill>
              </a:rPr>
              <a:t>At this stage, the </a:t>
            </a:r>
            <a:r>
              <a:rPr lang="en-US" sz="2500" b="1" i="1" dirty="0" smtClean="0">
                <a:solidFill>
                  <a:srgbClr val="922E7F"/>
                </a:solidFill>
              </a:rPr>
              <a:t>concepts</a:t>
            </a:r>
            <a:r>
              <a:rPr lang="en-US" sz="2500" b="1" i="1" dirty="0" smtClean="0">
                <a:solidFill>
                  <a:srgbClr val="0033CC"/>
                </a:solidFill>
              </a:rPr>
              <a:t> can be in </a:t>
            </a:r>
            <a:r>
              <a:rPr lang="en-US" sz="2500" b="1" i="1" dirty="0" smtClean="0">
                <a:solidFill>
                  <a:srgbClr val="922E7F"/>
                </a:solidFill>
              </a:rPr>
              <a:t>words or picture description.</a:t>
            </a:r>
          </a:p>
        </p:txBody>
      </p:sp>
    </p:spTree>
    <p:extLst>
      <p:ext uri="{BB962C8B-B14F-4D97-AF65-F5344CB8AC3E}">
        <p14:creationId xmlns:p14="http://schemas.microsoft.com/office/powerpoint/2010/main" val="7092254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613648" cy="990600"/>
          </a:xfrm>
        </p:spPr>
        <p:txBody>
          <a:bodyPr>
            <a:normAutofit/>
          </a:bodyPr>
          <a:lstStyle/>
          <a:p>
            <a:r>
              <a:rPr lang="en-US" sz="2500" b="1" dirty="0" smtClean="0"/>
              <a:t/>
            </a:r>
            <a:br>
              <a:rPr lang="en-US" sz="2500" b="1" dirty="0" smtClean="0"/>
            </a:br>
            <a:r>
              <a:rPr lang="en-US" sz="2500" b="1" dirty="0" smtClean="0"/>
              <a:t>  Conti…</a:t>
            </a:r>
            <a:endParaRPr lang="en-US" sz="25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524000"/>
            <a:ext cx="8839200" cy="51816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800" b="1" dirty="0" smtClean="0">
                <a:solidFill>
                  <a:srgbClr val="C00000"/>
                </a:solidFill>
              </a:rPr>
              <a:t>   4. Marketing Strategy Development</a:t>
            </a:r>
          </a:p>
          <a:p>
            <a:pPr marL="457200" indent="-365760">
              <a:spcBef>
                <a:spcPts val="0"/>
              </a:spcBef>
              <a:buClr>
                <a:srgbClr val="7030A0"/>
              </a:buClr>
              <a:buSzPct val="99000"/>
              <a:buFont typeface="Wingdings" pitchFamily="2" charset="2"/>
              <a:buChar char="®"/>
            </a:pPr>
            <a:r>
              <a:rPr lang="en-US" sz="2400" b="1" dirty="0" smtClean="0"/>
              <a:t>Develop a preliminary marketing strategy plan for introducing the new product into the market.</a:t>
            </a:r>
          </a:p>
          <a:p>
            <a:pPr marL="457200" indent="-365760">
              <a:spcBef>
                <a:spcPts val="0"/>
              </a:spcBef>
              <a:buClr>
                <a:srgbClr val="7030A0"/>
              </a:buClr>
              <a:buSzPct val="99000"/>
              <a:buFont typeface="Wingdings" pitchFamily="2" charset="2"/>
              <a:buChar char="®"/>
            </a:pPr>
            <a:r>
              <a:rPr lang="en-US" sz="2400" b="1" dirty="0" smtClean="0"/>
              <a:t>The marketing strategy plan consists of three parts:</a:t>
            </a:r>
          </a:p>
          <a:p>
            <a:pPr marL="731520" lvl="2" indent="-365760">
              <a:spcBef>
                <a:spcPts val="0"/>
              </a:spcBef>
              <a:buClr>
                <a:srgbClr val="7030A0"/>
              </a:buClr>
              <a:buSzPct val="99000"/>
              <a:buNone/>
            </a:pPr>
            <a:r>
              <a:rPr lang="en-US" sz="2400" b="1" i="1" dirty="0" smtClean="0">
                <a:solidFill>
                  <a:srgbClr val="000066"/>
                </a:solidFill>
              </a:rPr>
              <a:t>(1) Market size, structure, behavior;</a:t>
            </a:r>
          </a:p>
          <a:p>
            <a:pPr marL="731520" lvl="2" indent="-365760">
              <a:spcBef>
                <a:spcPts val="0"/>
              </a:spcBef>
              <a:buClr>
                <a:srgbClr val="7030A0"/>
              </a:buClr>
              <a:buSzPct val="99000"/>
              <a:buNone/>
            </a:pPr>
            <a:r>
              <a:rPr lang="en-US" sz="2400" b="1" i="1" dirty="0" smtClean="0">
                <a:solidFill>
                  <a:srgbClr val="000066"/>
                </a:solidFill>
              </a:rPr>
              <a:t>(2) Planned price, distribution strategy, and marketing budget of the 1</a:t>
            </a:r>
            <a:r>
              <a:rPr lang="en-US" sz="2400" b="1" i="1" baseline="30000" dirty="0" smtClean="0">
                <a:solidFill>
                  <a:srgbClr val="000066"/>
                </a:solidFill>
              </a:rPr>
              <a:t>st</a:t>
            </a:r>
            <a:r>
              <a:rPr lang="en-US" sz="2400" b="1" i="1" dirty="0" smtClean="0">
                <a:solidFill>
                  <a:srgbClr val="000066"/>
                </a:solidFill>
              </a:rPr>
              <a:t> year; and</a:t>
            </a:r>
          </a:p>
          <a:p>
            <a:pPr marL="731520" lvl="2" indent="-365760">
              <a:spcBef>
                <a:spcPts val="0"/>
              </a:spcBef>
              <a:buClr>
                <a:srgbClr val="7030A0"/>
              </a:buClr>
              <a:buSzPct val="99000"/>
              <a:buNone/>
            </a:pPr>
            <a:r>
              <a:rPr lang="en-US" sz="2400" b="1" i="1" dirty="0" smtClean="0">
                <a:solidFill>
                  <a:srgbClr val="000066"/>
                </a:solidFill>
              </a:rPr>
              <a:t>(3) Long run sales and profit goals, mrkng mix strategy.</a:t>
            </a:r>
          </a:p>
          <a:p>
            <a:pPr>
              <a:spcBef>
                <a:spcPts val="0"/>
              </a:spcBef>
              <a:buClr>
                <a:srgbClr val="7030A0"/>
              </a:buClr>
              <a:buSzPct val="99000"/>
              <a:buNone/>
            </a:pPr>
            <a:r>
              <a:rPr lang="en-US" sz="2800" b="1" dirty="0" smtClean="0">
                <a:solidFill>
                  <a:srgbClr val="C00000"/>
                </a:solidFill>
              </a:rPr>
              <a:t>   5. Business Analysis</a:t>
            </a:r>
          </a:p>
          <a:p>
            <a:pPr>
              <a:spcBef>
                <a:spcPts val="0"/>
              </a:spcBef>
              <a:buClr>
                <a:srgbClr val="7030A0"/>
              </a:buClr>
              <a:buSzPct val="99000"/>
              <a:buFont typeface="Wingdings" pitchFamily="2" charset="2"/>
              <a:buChar char="®"/>
            </a:pPr>
            <a:r>
              <a:rPr lang="en-US" sz="2400" b="1" dirty="0" smtClean="0"/>
              <a:t>Include </a:t>
            </a:r>
            <a:r>
              <a:rPr lang="en-US" sz="2400" b="1" dirty="0" smtClean="0">
                <a:solidFill>
                  <a:srgbClr val="922E7F"/>
                </a:solidFill>
              </a:rPr>
              <a:t>evaluating</a:t>
            </a:r>
            <a:r>
              <a:rPr lang="en-US" sz="2400" b="1" dirty="0" smtClean="0"/>
              <a:t> the proposed business </a:t>
            </a:r>
            <a:r>
              <a:rPr lang="en-US" sz="2400" b="1" dirty="0" smtClean="0">
                <a:solidFill>
                  <a:srgbClr val="922E7F"/>
                </a:solidFill>
              </a:rPr>
              <a:t>attractiveness. </a:t>
            </a:r>
          </a:p>
          <a:p>
            <a:pPr>
              <a:spcBef>
                <a:spcPts val="0"/>
              </a:spcBef>
              <a:buClr>
                <a:srgbClr val="7030A0"/>
              </a:buClr>
              <a:buSzPct val="99000"/>
              <a:buFont typeface="Wingdings" pitchFamily="2" charset="2"/>
              <a:buChar char="®"/>
            </a:pPr>
            <a:r>
              <a:rPr lang="en-US" sz="2400" b="1" dirty="0" smtClean="0"/>
              <a:t>Preparing </a:t>
            </a:r>
            <a:r>
              <a:rPr lang="en-US" sz="2400" b="1" dirty="0" smtClean="0">
                <a:solidFill>
                  <a:srgbClr val="922E7F"/>
                </a:solidFill>
              </a:rPr>
              <a:t>sales</a:t>
            </a:r>
            <a:r>
              <a:rPr lang="en-US" sz="2400" b="1" dirty="0" smtClean="0"/>
              <a:t>, </a:t>
            </a:r>
            <a:r>
              <a:rPr lang="en-US" sz="2400" b="1" dirty="0" smtClean="0">
                <a:solidFill>
                  <a:srgbClr val="922E7F"/>
                </a:solidFill>
              </a:rPr>
              <a:t>cost</a:t>
            </a:r>
            <a:r>
              <a:rPr lang="en-US" sz="2400" b="1" dirty="0" smtClean="0"/>
              <a:t> and </a:t>
            </a:r>
            <a:r>
              <a:rPr lang="en-US" sz="2400" b="1" dirty="0" smtClean="0">
                <a:solidFill>
                  <a:srgbClr val="922E7F"/>
                </a:solidFill>
              </a:rPr>
              <a:t>profit</a:t>
            </a:r>
            <a:r>
              <a:rPr lang="en-US" sz="2400" b="1" dirty="0" smtClean="0"/>
              <a:t> </a:t>
            </a:r>
            <a:r>
              <a:rPr lang="en-US" sz="2400" b="1" dirty="0" smtClean="0">
                <a:solidFill>
                  <a:srgbClr val="922E7F"/>
                </a:solidFill>
              </a:rPr>
              <a:t>projections</a:t>
            </a:r>
            <a:r>
              <a:rPr lang="en-US" sz="2400" b="1" dirty="0" smtClean="0"/>
              <a:t> to determine whether they </a:t>
            </a:r>
            <a:r>
              <a:rPr lang="en-US" sz="2400" b="1" dirty="0" smtClean="0">
                <a:solidFill>
                  <a:srgbClr val="922E7F"/>
                </a:solidFill>
              </a:rPr>
              <a:t>satisfy</a:t>
            </a:r>
            <a:r>
              <a:rPr lang="en-US" sz="2400" b="1" dirty="0" smtClean="0"/>
              <a:t> the </a:t>
            </a:r>
            <a:r>
              <a:rPr lang="en-US" sz="2400" b="1" dirty="0" smtClean="0">
                <a:solidFill>
                  <a:srgbClr val="922E7F"/>
                </a:solidFill>
              </a:rPr>
              <a:t>company's objective or not.</a:t>
            </a:r>
          </a:p>
          <a:p>
            <a:pPr lvl="2">
              <a:buClr>
                <a:srgbClr val="7030A0"/>
              </a:buClr>
              <a:buSzPct val="99000"/>
              <a:buNone/>
            </a:pPr>
            <a:endParaRPr lang="en-US" sz="2400" b="1" dirty="0" smtClean="0"/>
          </a:p>
          <a:p>
            <a:pPr>
              <a:buClr>
                <a:srgbClr val="7030A0"/>
              </a:buClr>
            </a:pPr>
            <a:endParaRPr lang="en-US" sz="2400" b="1" dirty="0" smtClean="0"/>
          </a:p>
          <a:p>
            <a:pPr>
              <a:buClr>
                <a:srgbClr val="7030A0"/>
              </a:buClr>
              <a:buFont typeface="Wingdings" pitchFamily="2" charset="2"/>
              <a:buChar char="q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092254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613648" cy="990600"/>
          </a:xfrm>
        </p:spPr>
        <p:txBody>
          <a:bodyPr>
            <a:normAutofit fontScale="90000"/>
          </a:bodyPr>
          <a:lstStyle/>
          <a:p>
            <a:r>
              <a:rPr lang="en-US" sz="3100" b="1" dirty="0" smtClean="0"/>
              <a:t/>
            </a:r>
            <a:br>
              <a:rPr lang="en-US" sz="3100" b="1" dirty="0" smtClean="0"/>
            </a:br>
            <a:r>
              <a:rPr lang="en-US" sz="3100" b="1" dirty="0" smtClean="0"/>
              <a:t>  Conti…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524000"/>
            <a:ext cx="8839200" cy="5181600"/>
          </a:xfrm>
        </p:spPr>
        <p:txBody>
          <a:bodyPr>
            <a:noAutofit/>
          </a:bodyPr>
          <a:lstStyle/>
          <a:p>
            <a:pPr marL="457200" indent="-365760">
              <a:spcBef>
                <a:spcPts val="0"/>
              </a:spcBef>
              <a:buClr>
                <a:srgbClr val="7030A0"/>
              </a:buClr>
              <a:buSzPct val="99000"/>
              <a:buFont typeface="Wingdings" pitchFamily="2" charset="2"/>
              <a:buChar char="®"/>
            </a:pPr>
            <a:r>
              <a:rPr lang="en-US" sz="2600" b="1" dirty="0" smtClean="0">
                <a:solidFill>
                  <a:srgbClr val="000066"/>
                </a:solidFill>
              </a:rPr>
              <a:t>Estimated Total Sales: - </a:t>
            </a:r>
            <a:r>
              <a:rPr lang="en-US" sz="2600" b="1" dirty="0" smtClean="0"/>
              <a:t>estimate whether sales will be high enough to yield satisfactory profit.</a:t>
            </a:r>
            <a:endParaRPr lang="en-US" sz="2600" b="1" dirty="0" smtClean="0">
              <a:solidFill>
                <a:srgbClr val="FF0000"/>
              </a:solidFill>
            </a:endParaRPr>
          </a:p>
          <a:p>
            <a:pPr marL="457200" indent="-365760">
              <a:spcBef>
                <a:spcPts val="0"/>
              </a:spcBef>
              <a:buClr>
                <a:srgbClr val="7030A0"/>
              </a:buClr>
              <a:buSzPct val="99000"/>
              <a:buFont typeface="Wingdings" pitchFamily="2" charset="2"/>
              <a:buChar char="®"/>
            </a:pPr>
            <a:r>
              <a:rPr lang="en-US" sz="2600" b="1" dirty="0" smtClean="0">
                <a:solidFill>
                  <a:srgbClr val="000066"/>
                </a:solidFill>
              </a:rPr>
              <a:t>Estimating Cost and Profits: - </a:t>
            </a:r>
            <a:r>
              <a:rPr lang="en-US" sz="2600" b="1" dirty="0" smtClean="0"/>
              <a:t>estimate the expected cost and profit at various levels of sales volume.</a:t>
            </a:r>
          </a:p>
          <a:p>
            <a:pPr marL="457200" indent="-365760">
              <a:spcBef>
                <a:spcPts val="0"/>
              </a:spcBef>
              <a:buClr>
                <a:srgbClr val="7030A0"/>
              </a:buClr>
              <a:buSzPct val="99000"/>
              <a:buFont typeface="Wingdings" pitchFamily="2" charset="2"/>
              <a:buChar char="®"/>
            </a:pPr>
            <a:r>
              <a:rPr lang="en-US" sz="2600" b="1" dirty="0" smtClean="0"/>
              <a:t>The company can use other financial measure to </a:t>
            </a:r>
            <a:r>
              <a:rPr lang="en-US" sz="2600" b="1" dirty="0" smtClean="0">
                <a:solidFill>
                  <a:srgbClr val="922E7F"/>
                </a:solidFill>
              </a:rPr>
              <a:t>evaluate</a:t>
            </a:r>
            <a:r>
              <a:rPr lang="en-US" sz="2600" b="1" dirty="0" smtClean="0"/>
              <a:t> the </a:t>
            </a:r>
            <a:r>
              <a:rPr lang="en-US" sz="2600" b="1" dirty="0" smtClean="0">
                <a:solidFill>
                  <a:srgbClr val="922E7F"/>
                </a:solidFill>
              </a:rPr>
              <a:t>merit</a:t>
            </a:r>
            <a:r>
              <a:rPr lang="en-US" sz="2600" b="1" dirty="0" smtClean="0"/>
              <a:t> of a </a:t>
            </a:r>
            <a:r>
              <a:rPr lang="en-US" sz="2600" b="1" dirty="0" smtClean="0">
                <a:solidFill>
                  <a:srgbClr val="922E7F"/>
                </a:solidFill>
              </a:rPr>
              <a:t>new product proposal.</a:t>
            </a:r>
          </a:p>
          <a:p>
            <a:pPr marL="1188720" lvl="5" indent="-365760">
              <a:spcBef>
                <a:spcPts val="0"/>
              </a:spcBef>
              <a:buClr>
                <a:srgbClr val="7030A0"/>
              </a:buClr>
              <a:buSzPct val="99000"/>
              <a:buFont typeface="Wingdings" pitchFamily="2" charset="2"/>
              <a:buChar char="¯"/>
            </a:pPr>
            <a:r>
              <a:rPr lang="en-US" sz="2600" b="1" dirty="0" smtClean="0"/>
              <a:t>The simplest is </a:t>
            </a:r>
            <a:r>
              <a:rPr lang="en-US" sz="2600" b="1" i="1" dirty="0" smtClean="0">
                <a:solidFill>
                  <a:srgbClr val="922E7F"/>
                </a:solidFill>
              </a:rPr>
              <a:t>breakeven</a:t>
            </a:r>
            <a:r>
              <a:rPr lang="en-US" sz="2600" b="1" i="1" dirty="0" smtClean="0">
                <a:solidFill>
                  <a:srgbClr val="FF0000"/>
                </a:solidFill>
              </a:rPr>
              <a:t> </a:t>
            </a:r>
            <a:r>
              <a:rPr lang="en-US" sz="2600" b="1" i="1" dirty="0" smtClean="0">
                <a:solidFill>
                  <a:srgbClr val="922E7F"/>
                </a:solidFill>
              </a:rPr>
              <a:t>analysis</a:t>
            </a:r>
            <a:r>
              <a:rPr lang="en-US" sz="2600" b="1" dirty="0" smtClean="0">
                <a:solidFill>
                  <a:srgbClr val="922E7F"/>
                </a:solidFill>
              </a:rPr>
              <a:t>.</a:t>
            </a:r>
          </a:p>
          <a:p>
            <a:pPr marL="457200" lvl="0" indent="-365760">
              <a:spcBef>
                <a:spcPts val="0"/>
              </a:spcBef>
              <a:buClr>
                <a:srgbClr val="7030A0"/>
              </a:buClr>
              <a:buSzPct val="99000"/>
              <a:buNone/>
            </a:pPr>
            <a:r>
              <a:rPr lang="en-US" sz="2800" b="1" dirty="0" smtClean="0">
                <a:solidFill>
                  <a:srgbClr val="C00000"/>
                </a:solidFill>
              </a:rPr>
              <a:t>  6. Product Development</a:t>
            </a:r>
          </a:p>
          <a:p>
            <a:pPr marL="457200" indent="-365760">
              <a:spcBef>
                <a:spcPts val="0"/>
              </a:spcBef>
              <a:buClr>
                <a:srgbClr val="7030A0"/>
              </a:buClr>
              <a:buSzPct val="99000"/>
              <a:buFont typeface="Wingdings" pitchFamily="2" charset="2"/>
              <a:buChar char="®"/>
            </a:pPr>
            <a:r>
              <a:rPr lang="en-US" sz="2450" b="1" dirty="0" smtClean="0"/>
              <a:t>Product concept </a:t>
            </a:r>
            <a:r>
              <a:rPr lang="en-US" sz="2450" b="1" dirty="0" smtClean="0">
                <a:solidFill>
                  <a:srgbClr val="922E7F"/>
                </a:solidFill>
              </a:rPr>
              <a:t>moves</a:t>
            </a:r>
            <a:r>
              <a:rPr lang="en-US" sz="2450" b="1" dirty="0" smtClean="0"/>
              <a:t> to </a:t>
            </a:r>
            <a:r>
              <a:rPr lang="en-US" sz="2450" b="1" dirty="0" smtClean="0">
                <a:solidFill>
                  <a:srgbClr val="922E7F"/>
                </a:solidFill>
              </a:rPr>
              <a:t>R&amp;D or engineering </a:t>
            </a:r>
            <a:r>
              <a:rPr lang="en-US" sz="2450" b="1" dirty="0" smtClean="0"/>
              <a:t>to be developed to one or more </a:t>
            </a:r>
            <a:r>
              <a:rPr lang="en-US" sz="2450" b="1" dirty="0" smtClean="0">
                <a:solidFill>
                  <a:srgbClr val="922E7F"/>
                </a:solidFill>
              </a:rPr>
              <a:t>physical version </a:t>
            </a:r>
            <a:r>
              <a:rPr lang="en-US" sz="2450" b="1" dirty="0" smtClean="0"/>
              <a:t>of the product concept.</a:t>
            </a:r>
          </a:p>
          <a:p>
            <a:pPr marL="457200" indent="-365760">
              <a:spcBef>
                <a:spcPts val="0"/>
              </a:spcBef>
              <a:buClr>
                <a:srgbClr val="7030A0"/>
              </a:buClr>
              <a:buSzPct val="99000"/>
              <a:buFont typeface="Wingdings" pitchFamily="2" charset="2"/>
              <a:buChar char="®"/>
            </a:pPr>
            <a:r>
              <a:rPr lang="en-US" sz="2600" b="1" dirty="0" smtClean="0"/>
              <a:t>T</a:t>
            </a:r>
            <a:r>
              <a:rPr lang="en-US" sz="2500" b="1" dirty="0" smtClean="0"/>
              <a:t>he goal is to find a </a:t>
            </a:r>
            <a:r>
              <a:rPr lang="en-US" sz="2500" b="1" u="sng" dirty="0" smtClean="0">
                <a:solidFill>
                  <a:srgbClr val="922E7F"/>
                </a:solidFill>
              </a:rPr>
              <a:t>PROTOTYPE</a:t>
            </a:r>
            <a:r>
              <a:rPr lang="en-US" sz="2500" b="1" dirty="0" smtClean="0"/>
              <a:t> that the customers see as embodying the </a:t>
            </a:r>
            <a:r>
              <a:rPr lang="en-US" sz="2500" b="1" dirty="0" smtClean="0">
                <a:solidFill>
                  <a:srgbClr val="922E7F"/>
                </a:solidFill>
              </a:rPr>
              <a:t>key attribute </a:t>
            </a:r>
            <a:r>
              <a:rPr lang="en-US" sz="2500" b="1" dirty="0" smtClean="0"/>
              <a:t>described in the </a:t>
            </a:r>
            <a:r>
              <a:rPr lang="en-US" sz="2500" b="1" dirty="0" smtClean="0">
                <a:solidFill>
                  <a:srgbClr val="922E7F"/>
                </a:solidFill>
              </a:rPr>
              <a:t>product concept statement.</a:t>
            </a:r>
          </a:p>
          <a:p>
            <a:pPr>
              <a:buFont typeface="Wingdings" pitchFamily="2" charset="2"/>
              <a:buChar char="q"/>
            </a:pPr>
            <a:endParaRPr lang="en-US" sz="2400" b="1" dirty="0" smtClean="0"/>
          </a:p>
          <a:p>
            <a:pPr>
              <a:buFont typeface="Wingdings" pitchFamily="2" charset="2"/>
              <a:buChar char="q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092254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613648" cy="990600"/>
          </a:xfrm>
        </p:spPr>
        <p:txBody>
          <a:bodyPr>
            <a:normAutofit/>
          </a:bodyPr>
          <a:lstStyle/>
          <a:p>
            <a:r>
              <a:rPr lang="en-US" sz="2500" b="1" dirty="0" smtClean="0"/>
              <a:t/>
            </a:r>
            <a:br>
              <a:rPr lang="en-US" sz="2500" b="1" dirty="0" smtClean="0"/>
            </a:br>
            <a:r>
              <a:rPr lang="en-US" sz="2500" b="1" dirty="0" smtClean="0"/>
              <a:t>  Conti…</a:t>
            </a:r>
            <a:endParaRPr lang="en-US" sz="25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600200"/>
            <a:ext cx="8839200" cy="5105400"/>
          </a:xfrm>
        </p:spPr>
        <p:txBody>
          <a:bodyPr>
            <a:noAutofit/>
          </a:bodyPr>
          <a:lstStyle/>
          <a:p>
            <a:pPr marL="457200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" pitchFamily="2" charset="2"/>
              <a:buChar char="®"/>
            </a:pPr>
            <a:r>
              <a:rPr lang="en-US" sz="2400" b="1" dirty="0" smtClean="0"/>
              <a:t>Scientists must design </a:t>
            </a:r>
            <a:r>
              <a:rPr lang="en-US" sz="2400" b="1" i="1" dirty="0" smtClean="0"/>
              <a:t>both:</a:t>
            </a:r>
          </a:p>
          <a:p>
            <a:pPr lvl="1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" pitchFamily="2" charset="2"/>
              <a:buChar char="Ü"/>
            </a:pPr>
            <a:r>
              <a:rPr lang="en-US" sz="2400" b="1" i="1" dirty="0" smtClean="0"/>
              <a:t>the products’ required </a:t>
            </a:r>
            <a:r>
              <a:rPr lang="en-US" sz="2400" b="1" i="1" dirty="0" smtClean="0">
                <a:solidFill>
                  <a:srgbClr val="922E7F"/>
                </a:solidFill>
              </a:rPr>
              <a:t>functional characteristics </a:t>
            </a:r>
            <a:r>
              <a:rPr lang="en-US" sz="2400" b="1" i="1" dirty="0" smtClean="0"/>
              <a:t>but also know how to communicate its </a:t>
            </a:r>
            <a:r>
              <a:rPr lang="en-US" sz="2400" b="1" i="1" dirty="0" smtClean="0">
                <a:solidFill>
                  <a:srgbClr val="922E7F"/>
                </a:solidFill>
              </a:rPr>
              <a:t>psychological aspects </a:t>
            </a:r>
            <a:r>
              <a:rPr lang="en-US" sz="2400" b="1" i="1" dirty="0" smtClean="0"/>
              <a:t>through physical cues and </a:t>
            </a:r>
          </a:p>
          <a:p>
            <a:pPr lvl="1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" pitchFamily="2" charset="2"/>
              <a:buChar char="Ü"/>
            </a:pPr>
            <a:r>
              <a:rPr lang="en-US" sz="2400" b="1" i="1" dirty="0" smtClean="0"/>
              <a:t>how will the customer </a:t>
            </a:r>
            <a:r>
              <a:rPr lang="en-US" sz="2400" b="1" i="1" dirty="0" smtClean="0">
                <a:solidFill>
                  <a:srgbClr val="922E7F"/>
                </a:solidFill>
              </a:rPr>
              <a:t>react</a:t>
            </a:r>
            <a:r>
              <a:rPr lang="en-US" sz="2400" b="1" i="1" dirty="0" smtClean="0"/>
              <a:t> to d/t </a:t>
            </a:r>
            <a:r>
              <a:rPr lang="en-US" sz="2400" b="1" i="1" dirty="0" smtClean="0">
                <a:solidFill>
                  <a:srgbClr val="922E7F"/>
                </a:solidFill>
              </a:rPr>
              <a:t>colors, sizes, weight </a:t>
            </a:r>
            <a:r>
              <a:rPr lang="en-US" sz="2400" b="1" i="1" dirty="0" smtClean="0"/>
              <a:t>&amp; </a:t>
            </a:r>
            <a:r>
              <a:rPr lang="en-US" sz="2400" b="1" i="1" dirty="0" smtClean="0">
                <a:solidFill>
                  <a:srgbClr val="922E7F"/>
                </a:solidFill>
              </a:rPr>
              <a:t>other physical cues.</a:t>
            </a:r>
          </a:p>
          <a:p>
            <a:pPr marL="457200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" pitchFamily="2" charset="2"/>
              <a:buChar char="®"/>
            </a:pPr>
            <a:r>
              <a:rPr lang="en-US" sz="2400" b="1" dirty="0" smtClean="0"/>
              <a:t>When the </a:t>
            </a:r>
            <a:r>
              <a:rPr lang="en-US" sz="2400" b="1" dirty="0" smtClean="0">
                <a:solidFill>
                  <a:srgbClr val="922E7F"/>
                </a:solidFill>
              </a:rPr>
              <a:t>prototypes</a:t>
            </a:r>
            <a:r>
              <a:rPr lang="en-US" sz="2400" b="1" dirty="0" smtClean="0"/>
              <a:t> are ready, they must be put through regroups functions &amp; customer tests. </a:t>
            </a:r>
          </a:p>
          <a:p>
            <a:pPr marL="457200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" pitchFamily="2" charset="2"/>
              <a:buChar char="®"/>
            </a:pPr>
            <a:r>
              <a:rPr lang="en-US" sz="2400" b="1" i="1" dirty="0" smtClean="0">
                <a:solidFill>
                  <a:srgbClr val="000066"/>
                </a:solidFill>
              </a:rPr>
              <a:t>Functional tests: </a:t>
            </a:r>
          </a:p>
          <a:p>
            <a:pPr lvl="2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 3" pitchFamily="18" charset="2"/>
              <a:buChar char="Æ"/>
            </a:pPr>
            <a:r>
              <a:rPr lang="en-US" sz="2400" b="1" i="1" dirty="0" smtClean="0">
                <a:solidFill>
                  <a:srgbClr val="000066"/>
                </a:solidFill>
              </a:rPr>
              <a:t>are conducted under laboratory &amp; field conditions to make sure that the product performs safely and effectively.</a:t>
            </a:r>
          </a:p>
          <a:p>
            <a:pPr>
              <a:spcBef>
                <a:spcPts val="0"/>
              </a:spcBef>
              <a:buClr>
                <a:srgbClr val="002060"/>
              </a:buClr>
              <a:buSzPct val="99000"/>
              <a:buFont typeface="Wingdings" pitchFamily="2" charset="2"/>
              <a:buChar char="®"/>
            </a:pPr>
            <a:r>
              <a:rPr lang="en-US" sz="2400" b="1" i="1" dirty="0" smtClean="0">
                <a:solidFill>
                  <a:srgbClr val="0000FF"/>
                </a:solidFill>
              </a:rPr>
              <a:t>Consumer testing: </a:t>
            </a:r>
          </a:p>
          <a:p>
            <a:pPr lvl="2" indent="-365760">
              <a:spcBef>
                <a:spcPts val="0"/>
              </a:spcBef>
              <a:buClr>
                <a:srgbClr val="0000FF"/>
              </a:buClr>
              <a:buSzPct val="99000"/>
              <a:buFont typeface="Wingdings 3" pitchFamily="18" charset="2"/>
              <a:buChar char="Æ"/>
            </a:pPr>
            <a:r>
              <a:rPr lang="en-US" sz="2400" b="1" i="1" dirty="0" smtClean="0">
                <a:solidFill>
                  <a:srgbClr val="0000FF"/>
                </a:solidFill>
              </a:rPr>
              <a:t>can take variety of forms, from bringing customers into laboratory to giving them samples to use in their homes.</a:t>
            </a:r>
          </a:p>
          <a:p>
            <a:endParaRPr lang="en-US" sz="2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2254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613648" cy="990600"/>
          </a:xfrm>
        </p:spPr>
        <p:txBody>
          <a:bodyPr>
            <a:normAutofit/>
          </a:bodyPr>
          <a:lstStyle/>
          <a:p>
            <a:r>
              <a:rPr lang="en-US" sz="2500" b="1" dirty="0" smtClean="0"/>
              <a:t/>
            </a:r>
            <a:br>
              <a:rPr lang="en-US" sz="2500" b="1" dirty="0" smtClean="0"/>
            </a:br>
            <a:r>
              <a:rPr lang="en-US" sz="2500" b="1" dirty="0" smtClean="0"/>
              <a:t>  Conti…</a:t>
            </a:r>
            <a:endParaRPr lang="en-US" sz="25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600200"/>
            <a:ext cx="8839200" cy="51054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800" b="1" dirty="0" smtClean="0">
                <a:solidFill>
                  <a:srgbClr val="C00000"/>
                </a:solidFill>
              </a:rPr>
              <a:t>    7. Market Testing</a:t>
            </a:r>
          </a:p>
          <a:p>
            <a:pPr marL="457200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" pitchFamily="2" charset="2"/>
              <a:buChar char="®"/>
            </a:pPr>
            <a:r>
              <a:rPr lang="en-US" sz="2400" b="1" dirty="0" smtClean="0"/>
              <a:t>After mgt is satisfied with the products</a:t>
            </a:r>
            <a:r>
              <a:rPr lang="en-US" sz="2400" b="1" dirty="0" smtClean="0">
                <a:solidFill>
                  <a:srgbClr val="FF0000"/>
                </a:solidFill>
              </a:rPr>
              <a:t>’ functional and psychological performance, </a:t>
            </a:r>
            <a:r>
              <a:rPr lang="en-US" sz="2400" b="1" dirty="0" smtClean="0"/>
              <a:t>the product is ready to be </a:t>
            </a:r>
            <a:r>
              <a:rPr lang="en-US" sz="2400" b="1" dirty="0" smtClean="0">
                <a:solidFill>
                  <a:srgbClr val="922E7F"/>
                </a:solidFill>
              </a:rPr>
              <a:t>dressed</a:t>
            </a:r>
            <a:r>
              <a:rPr lang="en-US" sz="2400" b="1" dirty="0" smtClean="0"/>
              <a:t> up with the </a:t>
            </a:r>
            <a:r>
              <a:rPr lang="en-US" sz="2400" b="1" dirty="0" smtClean="0">
                <a:solidFill>
                  <a:srgbClr val="922E7F"/>
                </a:solidFill>
              </a:rPr>
              <a:t>brand</a:t>
            </a:r>
            <a:r>
              <a:rPr lang="en-US" sz="2400" b="1" dirty="0" smtClean="0"/>
              <a:t> </a:t>
            </a:r>
            <a:r>
              <a:rPr lang="en-US" sz="2400" b="1" dirty="0" smtClean="0">
                <a:solidFill>
                  <a:srgbClr val="922E7F"/>
                </a:solidFill>
              </a:rPr>
              <a:t>name</a:t>
            </a:r>
            <a:r>
              <a:rPr lang="en-US" sz="2400" b="1" dirty="0" smtClean="0"/>
              <a:t>.</a:t>
            </a:r>
          </a:p>
          <a:p>
            <a:pPr marL="457200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" pitchFamily="2" charset="2"/>
              <a:buChar char="®"/>
            </a:pPr>
            <a:r>
              <a:rPr lang="en-US" sz="2400" b="1" dirty="0" smtClean="0"/>
              <a:t>The goals are:</a:t>
            </a:r>
          </a:p>
          <a:p>
            <a:pPr lvl="2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 3" pitchFamily="18" charset="2"/>
              <a:buChar char="´"/>
            </a:pPr>
            <a:r>
              <a:rPr lang="en-US" sz="2400" b="1" i="1" dirty="0" smtClean="0">
                <a:solidFill>
                  <a:srgbClr val="C00000"/>
                </a:solidFill>
              </a:rPr>
              <a:t>to </a:t>
            </a:r>
            <a:r>
              <a:rPr lang="en-US" sz="2400" b="1" i="1" dirty="0" smtClean="0">
                <a:solidFill>
                  <a:srgbClr val="922E7F"/>
                </a:solidFill>
              </a:rPr>
              <a:t>test</a:t>
            </a:r>
            <a:r>
              <a:rPr lang="en-US" sz="2400" b="1" i="1" dirty="0" smtClean="0">
                <a:solidFill>
                  <a:srgbClr val="C00000"/>
                </a:solidFill>
              </a:rPr>
              <a:t> the </a:t>
            </a:r>
            <a:r>
              <a:rPr lang="en-US" sz="2400" b="1" i="1" dirty="0" smtClean="0">
                <a:solidFill>
                  <a:srgbClr val="922E7F"/>
                </a:solidFill>
              </a:rPr>
              <a:t>new product </a:t>
            </a:r>
            <a:r>
              <a:rPr lang="en-US" sz="2400" b="1" i="1" dirty="0" smtClean="0">
                <a:solidFill>
                  <a:srgbClr val="C00000"/>
                </a:solidFill>
              </a:rPr>
              <a:t>is more </a:t>
            </a:r>
            <a:r>
              <a:rPr lang="en-US" sz="2400" b="1" i="1" dirty="0" smtClean="0">
                <a:solidFill>
                  <a:srgbClr val="922E7F"/>
                </a:solidFill>
              </a:rPr>
              <a:t>authentic</a:t>
            </a:r>
            <a:r>
              <a:rPr lang="en-US" sz="2400" b="1" i="1" dirty="0" smtClean="0">
                <a:solidFill>
                  <a:srgbClr val="C00000"/>
                </a:solidFill>
              </a:rPr>
              <a:t> customer settings, </a:t>
            </a:r>
          </a:p>
          <a:p>
            <a:pPr lvl="2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 3" pitchFamily="18" charset="2"/>
              <a:buChar char="´"/>
            </a:pPr>
            <a:r>
              <a:rPr lang="en-US" sz="2400" b="1" i="1" dirty="0" smtClean="0">
                <a:solidFill>
                  <a:srgbClr val="C00000"/>
                </a:solidFill>
              </a:rPr>
              <a:t>to </a:t>
            </a:r>
            <a:r>
              <a:rPr lang="en-US" sz="2400" b="1" i="1" dirty="0" smtClean="0">
                <a:solidFill>
                  <a:srgbClr val="922E7F"/>
                </a:solidFill>
              </a:rPr>
              <a:t>learn</a:t>
            </a:r>
            <a:r>
              <a:rPr lang="en-US" sz="2400" b="1" i="1" dirty="0" smtClean="0">
                <a:solidFill>
                  <a:srgbClr val="C00000"/>
                </a:solidFill>
              </a:rPr>
              <a:t> </a:t>
            </a:r>
            <a:r>
              <a:rPr lang="en-US" sz="2400" b="1" i="1" dirty="0" smtClean="0">
                <a:solidFill>
                  <a:srgbClr val="922E7F"/>
                </a:solidFill>
              </a:rPr>
              <a:t>how large </a:t>
            </a:r>
            <a:r>
              <a:rPr lang="en-US" sz="2400" b="1" i="1" dirty="0" smtClean="0">
                <a:solidFill>
                  <a:srgbClr val="C00000"/>
                </a:solidFill>
              </a:rPr>
              <a:t>the market is and </a:t>
            </a:r>
          </a:p>
          <a:p>
            <a:pPr lvl="2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 3" pitchFamily="18" charset="2"/>
              <a:buChar char="´"/>
            </a:pPr>
            <a:r>
              <a:rPr lang="en-US" sz="2400" b="1" i="1" dirty="0" smtClean="0">
                <a:solidFill>
                  <a:srgbClr val="C00000"/>
                </a:solidFill>
              </a:rPr>
              <a:t>how customers and dealers react to </a:t>
            </a:r>
            <a:r>
              <a:rPr lang="en-US" sz="2400" b="1" i="1" dirty="0" smtClean="0">
                <a:solidFill>
                  <a:srgbClr val="922E7F"/>
                </a:solidFill>
              </a:rPr>
              <a:t>handling, using </a:t>
            </a:r>
            <a:r>
              <a:rPr lang="en-US" sz="2400" b="1" i="1" dirty="0" smtClean="0"/>
              <a:t>and</a:t>
            </a:r>
            <a:r>
              <a:rPr lang="en-US" sz="2400" b="1" i="1" dirty="0" smtClean="0">
                <a:solidFill>
                  <a:srgbClr val="922E7F"/>
                </a:solidFill>
              </a:rPr>
              <a:t> repurchasing</a:t>
            </a:r>
            <a:r>
              <a:rPr lang="en-US" sz="2400" b="1" i="1" dirty="0" smtClean="0">
                <a:solidFill>
                  <a:srgbClr val="C00000"/>
                </a:solidFill>
              </a:rPr>
              <a:t> the actual product.</a:t>
            </a:r>
          </a:p>
          <a:p>
            <a:pPr marL="457200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" pitchFamily="2" charset="2"/>
              <a:buChar char="®"/>
            </a:pPr>
            <a:r>
              <a:rPr lang="en-US" sz="2400" b="1" dirty="0" smtClean="0"/>
              <a:t>Market testing can yield: </a:t>
            </a:r>
          </a:p>
          <a:p>
            <a:pPr lvl="2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 3" pitchFamily="18" charset="2"/>
              <a:buChar char="Æ"/>
            </a:pPr>
            <a:r>
              <a:rPr lang="en-US" sz="2400" b="1" i="1" dirty="0" smtClean="0">
                <a:solidFill>
                  <a:srgbClr val="922E7F"/>
                </a:solidFill>
              </a:rPr>
              <a:t>valuable information </a:t>
            </a:r>
            <a:r>
              <a:rPr lang="en-US" sz="2400" b="1" i="1" dirty="0" smtClean="0">
                <a:solidFill>
                  <a:schemeClr val="accent2"/>
                </a:solidFill>
              </a:rPr>
              <a:t>to others.</a:t>
            </a:r>
          </a:p>
          <a:p>
            <a:pPr lvl="2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 3" pitchFamily="18" charset="2"/>
              <a:buChar char="Æ"/>
            </a:pPr>
            <a:r>
              <a:rPr lang="en-US" sz="2400" b="1" i="1" dirty="0" smtClean="0">
                <a:solidFill>
                  <a:schemeClr val="accent2"/>
                </a:solidFill>
              </a:rPr>
              <a:t>more </a:t>
            </a:r>
            <a:r>
              <a:rPr lang="en-US" sz="2400" b="1" i="1" dirty="0" smtClean="0">
                <a:solidFill>
                  <a:srgbClr val="922E7F"/>
                </a:solidFill>
              </a:rPr>
              <a:t>reliable forecast </a:t>
            </a:r>
            <a:r>
              <a:rPr lang="en-US" sz="2400" b="1" i="1" dirty="0" smtClean="0">
                <a:solidFill>
                  <a:schemeClr val="accent2"/>
                </a:solidFill>
              </a:rPr>
              <a:t>of future sale, and </a:t>
            </a:r>
          </a:p>
          <a:p>
            <a:pPr lvl="2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 3" pitchFamily="18" charset="2"/>
              <a:buChar char="Æ"/>
            </a:pPr>
            <a:r>
              <a:rPr lang="en-US" sz="2400" b="1" i="1" dirty="0" smtClean="0">
                <a:solidFill>
                  <a:srgbClr val="922E7F"/>
                </a:solidFill>
              </a:rPr>
              <a:t>pretesting</a:t>
            </a:r>
            <a:r>
              <a:rPr lang="en-US" sz="2400" b="1" i="1" dirty="0" smtClean="0">
                <a:solidFill>
                  <a:schemeClr val="accent2"/>
                </a:solidFill>
              </a:rPr>
              <a:t> of alternative of future sale.</a:t>
            </a:r>
          </a:p>
          <a:p>
            <a:pPr marL="914400" indent="-365760">
              <a:buClr>
                <a:srgbClr val="002060"/>
              </a:buClr>
              <a:buSzPct val="99000"/>
              <a:buFont typeface="Wingdings 3" pitchFamily="18" charset="2"/>
              <a:buChar char="Æ"/>
            </a:pPr>
            <a:endParaRPr lang="en-US" sz="2400" dirty="0" smtClean="0"/>
          </a:p>
          <a:p>
            <a:pPr>
              <a:buFont typeface="Wingdings" pitchFamily="2" charset="2"/>
              <a:buChar char="q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092254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613648" cy="990600"/>
          </a:xfrm>
        </p:spPr>
        <p:txBody>
          <a:bodyPr>
            <a:normAutofit/>
          </a:bodyPr>
          <a:lstStyle/>
          <a:p>
            <a:r>
              <a:rPr lang="en-US" sz="2500" b="1" dirty="0" smtClean="0"/>
              <a:t/>
            </a:r>
            <a:br>
              <a:rPr lang="en-US" sz="2500" b="1" dirty="0" smtClean="0"/>
            </a:br>
            <a:r>
              <a:rPr lang="en-US" sz="2500" b="1" dirty="0" smtClean="0"/>
              <a:t>  Conti…</a:t>
            </a:r>
            <a:endParaRPr lang="en-US" sz="25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447800"/>
            <a:ext cx="8839200" cy="52578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800" b="1" dirty="0" smtClean="0">
                <a:solidFill>
                  <a:srgbClr val="C00000"/>
                </a:solidFill>
              </a:rPr>
              <a:t>    8. Commercialization </a:t>
            </a:r>
          </a:p>
          <a:p>
            <a:pPr>
              <a:spcBef>
                <a:spcPts val="0"/>
              </a:spcBef>
              <a:buNone/>
            </a:pPr>
            <a:r>
              <a:rPr lang="en-US" sz="2600" b="1" i="1" dirty="0" smtClean="0">
                <a:solidFill>
                  <a:srgbClr val="7030A0"/>
                </a:solidFill>
              </a:rPr>
              <a:t>    When (Timing):- </a:t>
            </a:r>
          </a:p>
          <a:p>
            <a:pPr marL="457200" indent="-365760">
              <a:spcBef>
                <a:spcPts val="0"/>
              </a:spcBef>
              <a:buSzPct val="99000"/>
              <a:buFont typeface="Wingdings" pitchFamily="2" charset="2"/>
              <a:buChar char="®"/>
            </a:pPr>
            <a:r>
              <a:rPr lang="en-US" sz="2400" b="1" dirty="0" smtClean="0"/>
              <a:t>In commercializing, </a:t>
            </a:r>
            <a:r>
              <a:rPr lang="en-US" sz="2400" b="1" dirty="0" smtClean="0">
                <a:solidFill>
                  <a:srgbClr val="922E7F"/>
                </a:solidFill>
              </a:rPr>
              <a:t>market entry timing is critical. </a:t>
            </a:r>
          </a:p>
          <a:p>
            <a:pPr marL="457200" indent="-365760">
              <a:spcBef>
                <a:spcPts val="0"/>
              </a:spcBef>
              <a:buSzPct val="99000"/>
              <a:buFont typeface="Wingdings" pitchFamily="2" charset="2"/>
              <a:buChar char="®"/>
            </a:pPr>
            <a:r>
              <a:rPr lang="en-US" sz="2400" b="1" dirty="0" smtClean="0"/>
              <a:t>If the company hears about</a:t>
            </a:r>
            <a:r>
              <a:rPr lang="en-US" sz="2400" b="1" i="1" dirty="0" smtClean="0"/>
              <a:t> </a:t>
            </a:r>
            <a:r>
              <a:rPr lang="en-US" sz="2400" b="1" dirty="0" smtClean="0"/>
              <a:t>a competitor nearing the end of its development work, it will face </a:t>
            </a:r>
            <a:r>
              <a:rPr lang="en-US" sz="2400" b="1" dirty="0" smtClean="0">
                <a:solidFill>
                  <a:srgbClr val="0000FF"/>
                </a:solidFill>
              </a:rPr>
              <a:t>three choices.</a:t>
            </a:r>
          </a:p>
          <a:p>
            <a:pPr marL="457200" indent="-365760">
              <a:spcBef>
                <a:spcPts val="0"/>
              </a:spcBef>
              <a:buSzPct val="99000"/>
              <a:buNone/>
            </a:pPr>
            <a:r>
              <a:rPr lang="en-US" sz="2400" b="1" dirty="0" smtClean="0">
                <a:solidFill>
                  <a:srgbClr val="0000FF"/>
                </a:solidFill>
              </a:rPr>
              <a:t>  The 1</a:t>
            </a:r>
            <a:r>
              <a:rPr lang="en-US" sz="2400" b="1" baseline="30000" dirty="0" smtClean="0">
                <a:solidFill>
                  <a:srgbClr val="0000FF"/>
                </a:solidFill>
              </a:rPr>
              <a:t>st</a:t>
            </a:r>
            <a:r>
              <a:rPr lang="en-US" sz="2400" b="1" dirty="0" smtClean="0">
                <a:solidFill>
                  <a:srgbClr val="0000FF"/>
                </a:solidFill>
              </a:rPr>
              <a:t> choice is </a:t>
            </a:r>
            <a:r>
              <a:rPr lang="en-US" sz="2400" b="1" i="1" dirty="0" smtClean="0">
                <a:solidFill>
                  <a:srgbClr val="0000FF"/>
                </a:solidFill>
              </a:rPr>
              <a:t>First Entry-</a:t>
            </a:r>
            <a:endParaRPr lang="en-US" sz="2400" b="1" dirty="0" smtClean="0">
              <a:solidFill>
                <a:srgbClr val="0000FF"/>
              </a:solidFill>
            </a:endParaRPr>
          </a:p>
          <a:p>
            <a:pPr lvl="2" indent="-365760">
              <a:spcBef>
                <a:spcPts val="0"/>
              </a:spcBef>
              <a:buSzPct val="99000"/>
              <a:buFont typeface="Wingdings 3" pitchFamily="18" charset="2"/>
              <a:buChar char="u"/>
            </a:pPr>
            <a:r>
              <a:rPr lang="en-US" sz="2400" b="1" i="1" dirty="0" smtClean="0"/>
              <a:t>The firm usually enjoys the </a:t>
            </a:r>
            <a:r>
              <a:rPr lang="en-US" sz="2400" b="1" i="1" dirty="0" smtClean="0">
                <a:solidFill>
                  <a:srgbClr val="FF0000"/>
                </a:solidFill>
              </a:rPr>
              <a:t>"first mover advantage" </a:t>
            </a:r>
            <a:r>
              <a:rPr lang="en-US" sz="2400" b="1" i="1" dirty="0" smtClean="0"/>
              <a:t>of looking up </a:t>
            </a:r>
            <a:r>
              <a:rPr lang="en-US" sz="2400" b="1" i="1" dirty="0" smtClean="0">
                <a:solidFill>
                  <a:srgbClr val="FF0000"/>
                </a:solidFill>
              </a:rPr>
              <a:t>key distributors &amp; gaining reputation. </a:t>
            </a:r>
          </a:p>
          <a:p>
            <a:pPr>
              <a:spcBef>
                <a:spcPts val="0"/>
              </a:spcBef>
              <a:buSzPct val="99000"/>
              <a:buNone/>
            </a:pPr>
            <a:r>
              <a:rPr lang="en-US" sz="2400" b="1" dirty="0" smtClean="0">
                <a:solidFill>
                  <a:srgbClr val="0000FF"/>
                </a:solidFill>
              </a:rPr>
              <a:t>  The 2</a:t>
            </a:r>
            <a:r>
              <a:rPr lang="en-US" sz="2400" b="1" baseline="30000" dirty="0" smtClean="0">
                <a:solidFill>
                  <a:srgbClr val="0000FF"/>
                </a:solidFill>
              </a:rPr>
              <a:t>nd</a:t>
            </a:r>
            <a:r>
              <a:rPr lang="en-US" sz="2400" b="1" dirty="0" smtClean="0">
                <a:solidFill>
                  <a:srgbClr val="0000FF"/>
                </a:solidFill>
              </a:rPr>
              <a:t> choice with </a:t>
            </a:r>
            <a:r>
              <a:rPr lang="en-US" sz="2400" b="1" i="1" dirty="0" smtClean="0">
                <a:solidFill>
                  <a:srgbClr val="0000FF"/>
                </a:solidFill>
              </a:rPr>
              <a:t>Late Entry Strategy</a:t>
            </a:r>
            <a:r>
              <a:rPr lang="en-US" sz="2400" b="1" dirty="0" smtClean="0">
                <a:solidFill>
                  <a:srgbClr val="0000FF"/>
                </a:solidFill>
              </a:rPr>
              <a:t>- </a:t>
            </a:r>
            <a:r>
              <a:rPr lang="en-US" sz="2400" b="1" dirty="0" smtClean="0"/>
              <a:t>w/c has 3 advges:</a:t>
            </a:r>
          </a:p>
          <a:p>
            <a:pPr lvl="1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 3" pitchFamily="18" charset="2"/>
              <a:buChar char="Æ"/>
            </a:pPr>
            <a:r>
              <a:rPr lang="en-US" sz="2500" b="1" i="1" dirty="0" smtClean="0">
                <a:solidFill>
                  <a:srgbClr val="002060"/>
                </a:solidFill>
              </a:rPr>
              <a:t>The competition will have borne the cost of educating the market;</a:t>
            </a:r>
          </a:p>
          <a:p>
            <a:pPr lvl="1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 3" pitchFamily="18" charset="2"/>
              <a:buChar char="Æ"/>
            </a:pPr>
            <a:r>
              <a:rPr lang="en-US" sz="2500" b="1" i="1" dirty="0" smtClean="0">
                <a:solidFill>
                  <a:srgbClr val="002060"/>
                </a:solidFill>
              </a:rPr>
              <a:t>The competing product may reveal fault that the late entrant can avoid; and</a:t>
            </a:r>
          </a:p>
          <a:p>
            <a:pPr lvl="1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 3" pitchFamily="18" charset="2"/>
              <a:buChar char="Æ"/>
            </a:pPr>
            <a:r>
              <a:rPr lang="en-US" sz="2500" b="1" i="1" dirty="0" smtClean="0">
                <a:solidFill>
                  <a:srgbClr val="002060"/>
                </a:solidFill>
              </a:rPr>
              <a:t>The company can learn the size of the market.</a:t>
            </a:r>
          </a:p>
          <a:p>
            <a:pPr lvl="1">
              <a:buSzPct val="99000"/>
            </a:pPr>
            <a:endParaRPr lang="en-US" sz="2400" b="1" dirty="0" smtClean="0"/>
          </a:p>
          <a:p>
            <a:endParaRPr lang="en-US" sz="2400" b="1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q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092254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613648" cy="990600"/>
          </a:xfrm>
        </p:spPr>
        <p:txBody>
          <a:bodyPr>
            <a:normAutofit/>
          </a:bodyPr>
          <a:lstStyle/>
          <a:p>
            <a:r>
              <a:rPr lang="en-US" sz="2500" b="1" dirty="0" smtClean="0"/>
              <a:t/>
            </a:r>
            <a:br>
              <a:rPr lang="en-US" sz="2500" b="1" dirty="0" smtClean="0"/>
            </a:br>
            <a:r>
              <a:rPr lang="en-US" sz="2500" b="1" dirty="0" smtClean="0"/>
              <a:t>  Conti…</a:t>
            </a:r>
            <a:endParaRPr lang="en-US" sz="25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600200"/>
            <a:ext cx="8839200" cy="51054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SzPct val="99000"/>
              <a:buNone/>
            </a:pPr>
            <a:r>
              <a:rPr lang="en-US" sz="2400" b="1" dirty="0" smtClean="0">
                <a:solidFill>
                  <a:srgbClr val="0000FF"/>
                </a:solidFill>
              </a:rPr>
              <a:t>   </a:t>
            </a:r>
            <a:r>
              <a:rPr lang="en-US" sz="2600" b="1" dirty="0" smtClean="0">
                <a:solidFill>
                  <a:srgbClr val="0000FF"/>
                </a:solidFill>
              </a:rPr>
              <a:t>The 3</a:t>
            </a:r>
            <a:r>
              <a:rPr lang="en-US" sz="2600" b="1" baseline="30000" dirty="0" smtClean="0">
                <a:solidFill>
                  <a:srgbClr val="0000FF"/>
                </a:solidFill>
              </a:rPr>
              <a:t>rd</a:t>
            </a:r>
            <a:r>
              <a:rPr lang="en-US" sz="2600" b="1" dirty="0" smtClean="0">
                <a:solidFill>
                  <a:srgbClr val="0000FF"/>
                </a:solidFill>
              </a:rPr>
              <a:t> strategy- </a:t>
            </a:r>
            <a:r>
              <a:rPr lang="en-US" sz="2600" b="1" i="1" dirty="0" smtClean="0">
                <a:solidFill>
                  <a:srgbClr val="0000FF"/>
                </a:solidFill>
              </a:rPr>
              <a:t>Parallel Entry-</a:t>
            </a:r>
            <a:endParaRPr lang="en-US" sz="2600" b="1" dirty="0" smtClean="0">
              <a:solidFill>
                <a:srgbClr val="0000FF"/>
              </a:solidFill>
            </a:endParaRPr>
          </a:p>
          <a:p>
            <a:pPr marL="457200" lvl="1" indent="-365760">
              <a:spcBef>
                <a:spcPts val="0"/>
              </a:spcBef>
              <a:buClr>
                <a:schemeClr val="accent2"/>
              </a:buClr>
              <a:buSzPct val="99000"/>
              <a:buFont typeface="Wingdings" pitchFamily="2" charset="2"/>
              <a:buChar char="µ"/>
            </a:pPr>
            <a:r>
              <a:rPr lang="en-US" b="1" i="1" dirty="0" smtClean="0">
                <a:solidFill>
                  <a:schemeClr val="accent2"/>
                </a:solidFill>
              </a:rPr>
              <a:t>Businessman can take the advantage of </a:t>
            </a:r>
            <a:r>
              <a:rPr lang="en-US" b="1" i="1" dirty="0" smtClean="0">
                <a:solidFill>
                  <a:srgbClr val="922E7F"/>
                </a:solidFill>
              </a:rPr>
              <a:t>opting</a:t>
            </a:r>
            <a:r>
              <a:rPr lang="en-US" b="1" i="1" dirty="0" smtClean="0">
                <a:solidFill>
                  <a:schemeClr val="accent2"/>
                </a:solidFill>
              </a:rPr>
              <a:t> for the </a:t>
            </a:r>
            <a:r>
              <a:rPr lang="en-US" b="1" i="1" dirty="0" smtClean="0">
                <a:solidFill>
                  <a:srgbClr val="922E7F"/>
                </a:solidFill>
              </a:rPr>
              <a:t>latest technology </a:t>
            </a:r>
            <a:r>
              <a:rPr lang="en-US" b="1" i="1" dirty="0" smtClean="0">
                <a:solidFill>
                  <a:schemeClr val="accent2"/>
                </a:solidFill>
              </a:rPr>
              <a:t>and </a:t>
            </a:r>
            <a:r>
              <a:rPr lang="en-US" b="1" i="1" dirty="0" smtClean="0">
                <a:solidFill>
                  <a:srgbClr val="922E7F"/>
                </a:solidFill>
              </a:rPr>
              <a:t>production process </a:t>
            </a:r>
            <a:r>
              <a:rPr lang="en-US" b="1" i="1" dirty="0" smtClean="0">
                <a:solidFill>
                  <a:schemeClr val="accent2"/>
                </a:solidFill>
              </a:rPr>
              <a:t>and operate at higher volume of operation. </a:t>
            </a:r>
          </a:p>
          <a:p>
            <a:pPr lvl="2" indent="-365760">
              <a:spcBef>
                <a:spcPts val="0"/>
              </a:spcBef>
              <a:buSzPct val="99000"/>
              <a:buFont typeface="Wingdings" pitchFamily="2" charset="2"/>
              <a:buChar char="Ü"/>
            </a:pPr>
            <a:r>
              <a:rPr lang="en-US" sz="2600" b="1" i="1" dirty="0" smtClean="0">
                <a:solidFill>
                  <a:schemeClr val="accent2"/>
                </a:solidFill>
              </a:rPr>
              <a:t>This leads to reduced production cost and production of quality goods and services. </a:t>
            </a:r>
          </a:p>
          <a:p>
            <a:pPr marL="457200" lvl="1" indent="-365760">
              <a:spcBef>
                <a:spcPts val="0"/>
              </a:spcBef>
              <a:buClr>
                <a:schemeClr val="accent2"/>
              </a:buClr>
              <a:buSzPct val="99000"/>
              <a:buFont typeface="Wingdings" pitchFamily="2" charset="2"/>
              <a:buChar char="µ"/>
            </a:pPr>
            <a:r>
              <a:rPr lang="en-US" b="1" dirty="0" smtClean="0">
                <a:solidFill>
                  <a:schemeClr val="accent2"/>
                </a:solidFill>
              </a:rPr>
              <a:t>A new businessman can thus provide </a:t>
            </a:r>
            <a:r>
              <a:rPr lang="en-US" b="1" dirty="0" smtClean="0">
                <a:solidFill>
                  <a:srgbClr val="FF0000"/>
                </a:solidFill>
              </a:rPr>
              <a:t>improved quality goods </a:t>
            </a:r>
            <a:r>
              <a:rPr lang="en-US" b="1" dirty="0" smtClean="0"/>
              <a:t>and</a:t>
            </a:r>
            <a:r>
              <a:rPr lang="en-US" b="1" dirty="0" smtClean="0">
                <a:solidFill>
                  <a:srgbClr val="FF0000"/>
                </a:solidFill>
              </a:rPr>
              <a:t> services at lower cost.</a:t>
            </a:r>
          </a:p>
          <a:p>
            <a:pPr>
              <a:spcBef>
                <a:spcPts val="0"/>
              </a:spcBef>
              <a:buSzPct val="99000"/>
              <a:buNone/>
            </a:pPr>
            <a:r>
              <a:rPr lang="en-US" sz="2600" b="1" i="1" dirty="0" smtClean="0">
                <a:solidFill>
                  <a:srgbClr val="7030A0"/>
                </a:solidFill>
              </a:rPr>
              <a:t>    Where (Geographical Strategy):-</a:t>
            </a:r>
            <a:r>
              <a:rPr lang="en-US" sz="2600" b="1" i="1" dirty="0" smtClean="0"/>
              <a:t> </a:t>
            </a:r>
          </a:p>
          <a:p>
            <a:pPr marL="457200" indent="-365760">
              <a:spcBef>
                <a:spcPts val="0"/>
              </a:spcBef>
              <a:buSzPct val="99000"/>
              <a:buFont typeface="Wingdings" pitchFamily="2" charset="2"/>
              <a:buChar char="®"/>
            </a:pPr>
            <a:r>
              <a:rPr lang="en-US" sz="2600" b="1" dirty="0" smtClean="0"/>
              <a:t>The company must </a:t>
            </a:r>
            <a:r>
              <a:rPr lang="en-US" sz="2600" b="1" dirty="0" smtClean="0">
                <a:solidFill>
                  <a:srgbClr val="922E7F"/>
                </a:solidFill>
              </a:rPr>
              <a:t>decide</a:t>
            </a:r>
            <a:r>
              <a:rPr lang="en-US" sz="2600" b="1" dirty="0" smtClean="0"/>
              <a:t> whether </a:t>
            </a:r>
            <a:r>
              <a:rPr lang="en-US" sz="2600" b="1" dirty="0" smtClean="0">
                <a:solidFill>
                  <a:srgbClr val="922E7F"/>
                </a:solidFill>
              </a:rPr>
              <a:t>to launch the new product</a:t>
            </a:r>
            <a:r>
              <a:rPr lang="en-US" sz="2600" b="1" i="1" dirty="0" smtClean="0">
                <a:solidFill>
                  <a:srgbClr val="922E7F"/>
                </a:solidFill>
              </a:rPr>
              <a:t> </a:t>
            </a:r>
            <a:r>
              <a:rPr lang="en-US" sz="2600" b="1" dirty="0" smtClean="0"/>
              <a:t>in a single locality, a region/several regions, in the national/ international market.</a:t>
            </a:r>
          </a:p>
          <a:p>
            <a:pPr>
              <a:buSzPct val="99000"/>
              <a:buFont typeface="Wingdings" pitchFamily="2" charset="2"/>
              <a:buChar char="q"/>
            </a:pPr>
            <a:endParaRPr lang="en-US" sz="2400" b="1" dirty="0" smtClean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092254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613648" cy="990600"/>
          </a:xfrm>
        </p:spPr>
        <p:txBody>
          <a:bodyPr>
            <a:normAutofit/>
          </a:bodyPr>
          <a:lstStyle/>
          <a:p>
            <a:r>
              <a:rPr lang="en-US" sz="2500" b="1" dirty="0" smtClean="0"/>
              <a:t/>
            </a:r>
            <a:br>
              <a:rPr lang="en-US" sz="2500" b="1" dirty="0" smtClean="0"/>
            </a:br>
            <a:r>
              <a:rPr lang="en-US" sz="2500" b="1" dirty="0" smtClean="0"/>
              <a:t>  Conti…</a:t>
            </a:r>
            <a:endParaRPr lang="en-US" sz="25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600200"/>
            <a:ext cx="8839200" cy="51054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600" b="1" i="1" dirty="0" smtClean="0">
                <a:solidFill>
                  <a:srgbClr val="7030A0"/>
                </a:solidFill>
              </a:rPr>
              <a:t>    To Whom (Target-Market-Prospect):- </a:t>
            </a:r>
          </a:p>
          <a:p>
            <a:pPr marL="457200" indent="-365760">
              <a:spcBef>
                <a:spcPts val="0"/>
              </a:spcBef>
              <a:buSzPct val="99000"/>
              <a:buFont typeface="Wingdings" pitchFamily="2" charset="2"/>
              <a:buChar char="®"/>
            </a:pPr>
            <a:r>
              <a:rPr lang="en-US" sz="2400" b="1" dirty="0" smtClean="0"/>
              <a:t>The company must </a:t>
            </a:r>
            <a:r>
              <a:rPr lang="en-US" sz="2400" b="1" dirty="0" smtClean="0">
                <a:solidFill>
                  <a:srgbClr val="922E7F"/>
                </a:solidFill>
              </a:rPr>
              <a:t>target</a:t>
            </a:r>
            <a:r>
              <a:rPr lang="en-US" sz="2400" b="1" dirty="0" smtClean="0"/>
              <a:t> its</a:t>
            </a:r>
            <a:r>
              <a:rPr lang="en-US" sz="2400" b="1" i="1" dirty="0" smtClean="0"/>
              <a:t> </a:t>
            </a:r>
            <a:r>
              <a:rPr lang="en-US" sz="2400" b="1" dirty="0" smtClean="0"/>
              <a:t>distribution and promotion to the </a:t>
            </a:r>
            <a:r>
              <a:rPr lang="en-US" sz="2400" b="1" dirty="0" smtClean="0">
                <a:solidFill>
                  <a:srgbClr val="922E7F"/>
                </a:solidFill>
              </a:rPr>
              <a:t>best prospect group. </a:t>
            </a:r>
          </a:p>
          <a:p>
            <a:pPr marL="457200" indent="-365760">
              <a:spcBef>
                <a:spcPts val="0"/>
              </a:spcBef>
              <a:buSzPct val="99000"/>
              <a:buFont typeface="Wingdings" pitchFamily="2" charset="2"/>
              <a:buChar char="®"/>
            </a:pPr>
            <a:r>
              <a:rPr lang="en-US" sz="2400" b="1" dirty="0" smtClean="0">
                <a:solidFill>
                  <a:srgbClr val="922E7F"/>
                </a:solidFill>
              </a:rPr>
              <a:t>Prime prospects </a:t>
            </a:r>
            <a:r>
              <a:rPr lang="en-US" sz="2400" b="1" dirty="0" smtClean="0"/>
              <a:t>for a new customer’s product would </a:t>
            </a:r>
            <a:r>
              <a:rPr lang="en-US" sz="2400" b="1" dirty="0" smtClean="0">
                <a:solidFill>
                  <a:srgbClr val="922E7F"/>
                </a:solidFill>
              </a:rPr>
              <a:t>ideally have </a:t>
            </a:r>
            <a:r>
              <a:rPr lang="en-US" sz="2400" b="1" dirty="0" smtClean="0"/>
              <a:t>the following </a:t>
            </a:r>
            <a:r>
              <a:rPr lang="en-US" sz="2400" b="1" dirty="0" smtClean="0">
                <a:solidFill>
                  <a:srgbClr val="922E7F"/>
                </a:solidFill>
              </a:rPr>
              <a:t>characteristics</a:t>
            </a:r>
            <a:r>
              <a:rPr lang="en-US" sz="2400" b="1" dirty="0" smtClean="0"/>
              <a:t>:</a:t>
            </a:r>
          </a:p>
          <a:p>
            <a:pPr lvl="2" indent="-365760">
              <a:spcBef>
                <a:spcPts val="0"/>
              </a:spcBef>
              <a:buClr>
                <a:srgbClr val="00B050"/>
              </a:buClr>
              <a:buSzPct val="99000"/>
              <a:buFont typeface="Wingdings 3" pitchFamily="18" charset="2"/>
              <a:buChar char="Æ"/>
            </a:pPr>
            <a:r>
              <a:rPr lang="en-US" sz="2400" b="1" i="1" dirty="0" smtClean="0">
                <a:solidFill>
                  <a:srgbClr val="00B050"/>
                </a:solidFill>
              </a:rPr>
              <a:t>They would be </a:t>
            </a:r>
            <a:r>
              <a:rPr lang="en-US" sz="2400" b="1" i="1" dirty="0" smtClean="0">
                <a:solidFill>
                  <a:srgbClr val="922E7F"/>
                </a:solidFill>
              </a:rPr>
              <a:t>early adapters;</a:t>
            </a:r>
          </a:p>
          <a:p>
            <a:pPr lvl="2" indent="-365760">
              <a:spcBef>
                <a:spcPts val="0"/>
              </a:spcBef>
              <a:buClr>
                <a:srgbClr val="00B050"/>
              </a:buClr>
              <a:buSzPct val="99000"/>
              <a:buFont typeface="Wingdings 3" pitchFamily="18" charset="2"/>
              <a:buChar char="Æ"/>
            </a:pPr>
            <a:r>
              <a:rPr lang="en-US" sz="2400" b="1" i="1" dirty="0" smtClean="0">
                <a:solidFill>
                  <a:srgbClr val="00B050"/>
                </a:solidFill>
              </a:rPr>
              <a:t>They would be </a:t>
            </a:r>
            <a:r>
              <a:rPr lang="en-US" sz="2400" b="1" i="1" dirty="0" smtClean="0">
                <a:solidFill>
                  <a:srgbClr val="922E7F"/>
                </a:solidFill>
              </a:rPr>
              <a:t>heavy users;</a:t>
            </a:r>
          </a:p>
          <a:p>
            <a:pPr lvl="2" indent="-365760">
              <a:spcBef>
                <a:spcPts val="0"/>
              </a:spcBef>
              <a:buClr>
                <a:srgbClr val="00B050"/>
              </a:buClr>
              <a:buSzPct val="99000"/>
              <a:buFont typeface="Wingdings 3" pitchFamily="18" charset="2"/>
              <a:buChar char="Æ"/>
            </a:pPr>
            <a:r>
              <a:rPr lang="en-US" sz="2400" b="1" i="1" dirty="0" smtClean="0">
                <a:solidFill>
                  <a:srgbClr val="00B050"/>
                </a:solidFill>
              </a:rPr>
              <a:t>They would be </a:t>
            </a:r>
            <a:r>
              <a:rPr lang="en-US" sz="2400" b="1" i="1" dirty="0" smtClean="0">
                <a:solidFill>
                  <a:srgbClr val="922E7F"/>
                </a:solidFill>
              </a:rPr>
              <a:t>Opinion leaders; </a:t>
            </a:r>
            <a:r>
              <a:rPr lang="en-US" sz="2400" b="1" i="1" dirty="0" smtClean="0">
                <a:solidFill>
                  <a:srgbClr val="00B050"/>
                </a:solidFill>
              </a:rPr>
              <a:t>and</a:t>
            </a:r>
          </a:p>
          <a:p>
            <a:pPr lvl="2" indent="-365760">
              <a:spcBef>
                <a:spcPts val="0"/>
              </a:spcBef>
              <a:buClr>
                <a:srgbClr val="00B050"/>
              </a:buClr>
              <a:buSzPct val="99000"/>
              <a:buFont typeface="Wingdings 3" pitchFamily="18" charset="2"/>
              <a:buChar char="Æ"/>
            </a:pPr>
            <a:r>
              <a:rPr lang="en-US" sz="2400" b="1" i="1" dirty="0" smtClean="0">
                <a:solidFill>
                  <a:srgbClr val="00B050"/>
                </a:solidFill>
              </a:rPr>
              <a:t>Could be </a:t>
            </a:r>
            <a:r>
              <a:rPr lang="en-US" sz="2400" b="1" i="1" dirty="0" smtClean="0">
                <a:solidFill>
                  <a:srgbClr val="922E7F"/>
                </a:solidFill>
              </a:rPr>
              <a:t>reached at low cost.</a:t>
            </a:r>
          </a:p>
          <a:p>
            <a:pPr>
              <a:spcBef>
                <a:spcPts val="0"/>
              </a:spcBef>
              <a:buSzPct val="99000"/>
              <a:buNone/>
            </a:pPr>
            <a:r>
              <a:rPr lang="en-US" sz="2600" b="1" i="1" dirty="0" smtClean="0">
                <a:solidFill>
                  <a:srgbClr val="7030A0"/>
                </a:solidFill>
              </a:rPr>
              <a:t>     How (Introductory Markets Strategy):- </a:t>
            </a:r>
          </a:p>
          <a:p>
            <a:pPr marL="457200" indent="-365760">
              <a:spcBef>
                <a:spcPts val="0"/>
              </a:spcBef>
              <a:buSzPct val="99000"/>
              <a:buFont typeface="Wingdings" pitchFamily="2" charset="2"/>
              <a:buChar char="®"/>
            </a:pPr>
            <a:r>
              <a:rPr lang="en-US" sz="2400" b="1" dirty="0" smtClean="0"/>
              <a:t>To </a:t>
            </a:r>
            <a:r>
              <a:rPr lang="en-US" sz="2400" b="1" dirty="0" smtClean="0">
                <a:solidFill>
                  <a:srgbClr val="922E7F"/>
                </a:solidFill>
              </a:rPr>
              <a:t>sequence</a:t>
            </a:r>
            <a:r>
              <a:rPr lang="en-US" sz="2400" b="1" dirty="0" smtClean="0"/>
              <a:t> and </a:t>
            </a:r>
            <a:r>
              <a:rPr lang="en-US" sz="2400" b="1" dirty="0" smtClean="0">
                <a:solidFill>
                  <a:srgbClr val="922E7F"/>
                </a:solidFill>
              </a:rPr>
              <a:t>coordinate</a:t>
            </a:r>
            <a:r>
              <a:rPr lang="en-US" sz="2400" b="1" dirty="0" smtClean="0"/>
              <a:t> many </a:t>
            </a:r>
            <a:r>
              <a:rPr lang="en-US" sz="2400" b="1" dirty="0" smtClean="0">
                <a:solidFill>
                  <a:srgbClr val="922E7F"/>
                </a:solidFill>
              </a:rPr>
              <a:t>activities</a:t>
            </a:r>
            <a:r>
              <a:rPr lang="en-US" sz="2400" b="1" dirty="0" smtClean="0"/>
              <a:t> involved in</a:t>
            </a:r>
            <a:r>
              <a:rPr lang="en-US" sz="2400" b="1" i="1" dirty="0" smtClean="0"/>
              <a:t> </a:t>
            </a:r>
            <a:r>
              <a:rPr lang="en-US" sz="2400" b="1" dirty="0" smtClean="0">
                <a:solidFill>
                  <a:srgbClr val="922E7F"/>
                </a:solidFill>
              </a:rPr>
              <a:t>launching a new product </a:t>
            </a:r>
            <a:r>
              <a:rPr lang="en-US" sz="2400" b="1" dirty="0" smtClean="0"/>
              <a:t>may use network-planning techniques such as </a:t>
            </a:r>
            <a:r>
              <a:rPr lang="en-US" sz="2400" b="1" i="1" dirty="0" smtClean="0">
                <a:solidFill>
                  <a:srgbClr val="7030A0"/>
                </a:solidFill>
              </a:rPr>
              <a:t>Critical Path Schedule(CPS).</a:t>
            </a:r>
            <a:endParaRPr lang="en-US" sz="2400" b="1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2254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613648" cy="10668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/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    4.4 Legal &amp; Regulatory Frameworks for Entrepreneurs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600200"/>
            <a:ext cx="8839200" cy="5105400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2500" b="1" dirty="0" smtClean="0"/>
          </a:p>
          <a:p>
            <a:pPr marL="457200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" pitchFamily="2" charset="2"/>
              <a:buChar char="®"/>
            </a:pPr>
            <a:r>
              <a:rPr lang="en-US" sz="2600" b="1" dirty="0" smtClean="0"/>
              <a:t>One of the </a:t>
            </a:r>
            <a:r>
              <a:rPr lang="en-US" sz="2600" b="1" dirty="0" smtClean="0">
                <a:solidFill>
                  <a:srgbClr val="922E7F"/>
                </a:solidFill>
              </a:rPr>
              <a:t>challenges</a:t>
            </a:r>
            <a:r>
              <a:rPr lang="en-US" sz="2600" b="1" dirty="0" smtClean="0"/>
              <a:t> the </a:t>
            </a:r>
            <a:r>
              <a:rPr lang="en-US" sz="2600" b="1" dirty="0" smtClean="0">
                <a:solidFill>
                  <a:srgbClr val="922E7F"/>
                </a:solidFill>
              </a:rPr>
              <a:t>novice entrepreneur </a:t>
            </a:r>
            <a:r>
              <a:rPr lang="en-US" sz="2600" b="1" dirty="0" smtClean="0"/>
              <a:t>will face as she goes into business understands:</a:t>
            </a:r>
          </a:p>
          <a:p>
            <a:pPr lvl="2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" pitchFamily="2" charset="2"/>
              <a:buChar char="Ü"/>
            </a:pPr>
            <a:r>
              <a:rPr lang="en-US" sz="2600" b="1" i="1" dirty="0" smtClean="0"/>
              <a:t>the </a:t>
            </a:r>
            <a:r>
              <a:rPr lang="en-US" sz="2600" b="1" i="1" dirty="0" smtClean="0">
                <a:solidFill>
                  <a:srgbClr val="922E7F"/>
                </a:solidFill>
              </a:rPr>
              <a:t>regulatory environment </a:t>
            </a:r>
            <a:r>
              <a:rPr lang="en-US" sz="2600" b="1" i="1" dirty="0" smtClean="0"/>
              <a:t>which is made up of numerous </a:t>
            </a:r>
            <a:r>
              <a:rPr lang="en-US" sz="2600" b="1" i="1" dirty="0" smtClean="0">
                <a:solidFill>
                  <a:srgbClr val="922E7F"/>
                </a:solidFill>
              </a:rPr>
              <a:t>laws</a:t>
            </a:r>
            <a:r>
              <a:rPr lang="en-US" sz="2600" b="1" i="1" dirty="0" smtClean="0">
                <a:solidFill>
                  <a:srgbClr val="FF0000"/>
                </a:solidFill>
              </a:rPr>
              <a:t> </a:t>
            </a:r>
            <a:r>
              <a:rPr lang="en-US" sz="2600" b="1" i="1" dirty="0" smtClean="0"/>
              <a:t>and</a:t>
            </a:r>
            <a:r>
              <a:rPr lang="en-US" sz="2600" b="1" i="1" dirty="0" smtClean="0">
                <a:solidFill>
                  <a:srgbClr val="FF0000"/>
                </a:solidFill>
              </a:rPr>
              <a:t> </a:t>
            </a:r>
            <a:r>
              <a:rPr lang="en-US" sz="2600" b="1" i="1" dirty="0" smtClean="0">
                <a:solidFill>
                  <a:srgbClr val="922E7F"/>
                </a:solidFill>
              </a:rPr>
              <a:t>regulations</a:t>
            </a:r>
            <a:r>
              <a:rPr lang="en-US" sz="2600" b="1" i="1" dirty="0" smtClean="0">
                <a:solidFill>
                  <a:srgbClr val="FF0000"/>
                </a:solidFill>
              </a:rPr>
              <a:t>.</a:t>
            </a:r>
          </a:p>
          <a:p>
            <a:pPr lvl="2" indent="-365760">
              <a:spcBef>
                <a:spcPts val="0"/>
              </a:spcBef>
              <a:buClr>
                <a:srgbClr val="002060"/>
              </a:buClr>
              <a:buSzPct val="99000"/>
              <a:buNone/>
            </a:pPr>
            <a:endParaRPr lang="en-US" sz="2600" b="1" dirty="0" smtClean="0">
              <a:solidFill>
                <a:srgbClr val="FF0000"/>
              </a:solidFill>
            </a:endParaRPr>
          </a:p>
          <a:p>
            <a:pPr marL="457200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" pitchFamily="2" charset="2"/>
              <a:buChar char="®"/>
            </a:pPr>
            <a:r>
              <a:rPr lang="en-US" sz="2600" b="1" dirty="0" smtClean="0"/>
              <a:t>To operate </a:t>
            </a:r>
            <a:r>
              <a:rPr lang="en-US" sz="2600" b="1" dirty="0" smtClean="0">
                <a:solidFill>
                  <a:srgbClr val="922E7F"/>
                </a:solidFill>
              </a:rPr>
              <a:t>as a legal business person </a:t>
            </a:r>
            <a:r>
              <a:rPr lang="en-US" sz="2600" b="1" dirty="0" smtClean="0"/>
              <a:t>and protect the business from </a:t>
            </a:r>
            <a:r>
              <a:rPr lang="en-US" sz="2600" b="1" dirty="0" smtClean="0">
                <a:solidFill>
                  <a:srgbClr val="922E7F"/>
                </a:solidFill>
              </a:rPr>
              <a:t>unnecessary suits </a:t>
            </a:r>
            <a:r>
              <a:rPr lang="en-US" sz="2600" b="1" dirty="0" smtClean="0"/>
              <a:t>and</a:t>
            </a:r>
            <a:r>
              <a:rPr lang="en-US" sz="2600" b="1" dirty="0" smtClean="0">
                <a:solidFill>
                  <a:srgbClr val="922E7F"/>
                </a:solidFill>
              </a:rPr>
              <a:t> liabilities</a:t>
            </a:r>
            <a:r>
              <a:rPr lang="en-US" sz="2600" b="1" dirty="0" smtClean="0"/>
              <a:t>, the entrepreneur needs:</a:t>
            </a:r>
          </a:p>
          <a:p>
            <a:pPr marL="822960" lvl="1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" pitchFamily="2" charset="2"/>
              <a:buChar char="Ü"/>
            </a:pPr>
            <a:r>
              <a:rPr lang="en-US" b="1" i="1" dirty="0" smtClean="0"/>
              <a:t> to understand the </a:t>
            </a:r>
            <a:r>
              <a:rPr lang="en-US" b="1" i="1" dirty="0" smtClean="0">
                <a:solidFill>
                  <a:srgbClr val="922E7F"/>
                </a:solidFill>
              </a:rPr>
              <a:t>various laws </a:t>
            </a:r>
            <a:r>
              <a:rPr lang="en-US" b="1" i="1" dirty="0" smtClean="0"/>
              <a:t>that govern his/her business. </a:t>
            </a:r>
          </a:p>
        </p:txBody>
      </p:sp>
    </p:spTree>
    <p:extLst>
      <p:ext uri="{BB962C8B-B14F-4D97-AF65-F5344CB8AC3E}">
        <p14:creationId xmlns:p14="http://schemas.microsoft.com/office/powerpoint/2010/main" val="7092254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839200" cy="9906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/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4.5 Intellectual Property Protection/Product/Service Protection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447800"/>
            <a:ext cx="9144000" cy="54102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600" b="1" dirty="0" smtClean="0">
                <a:solidFill>
                  <a:srgbClr val="C00000"/>
                </a:solidFill>
              </a:rPr>
              <a:t>    4.5.1 What is Intellectual Property?</a:t>
            </a:r>
          </a:p>
          <a:p>
            <a:pPr marL="457200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" pitchFamily="2" charset="2"/>
              <a:buChar char="®"/>
            </a:pPr>
            <a:r>
              <a:rPr lang="en-US" sz="2400" b="1" dirty="0" smtClean="0"/>
              <a:t>Intellectual Property which includes </a:t>
            </a:r>
            <a:r>
              <a:rPr lang="en-US" sz="2400" b="1" dirty="0" smtClean="0">
                <a:solidFill>
                  <a:srgbClr val="C00000"/>
                </a:solidFill>
              </a:rPr>
              <a:t>patents, trademarks, copyrights, </a:t>
            </a:r>
            <a:r>
              <a:rPr lang="en-US" sz="2400" b="1" dirty="0" smtClean="0"/>
              <a:t>and</a:t>
            </a:r>
            <a:r>
              <a:rPr lang="en-US" sz="2400" b="1" dirty="0" smtClean="0">
                <a:solidFill>
                  <a:srgbClr val="C00000"/>
                </a:solidFill>
              </a:rPr>
              <a:t> trade secrets.</a:t>
            </a:r>
          </a:p>
          <a:p>
            <a:pPr marL="457200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" pitchFamily="2" charset="2"/>
              <a:buChar char="®"/>
            </a:pPr>
            <a:r>
              <a:rPr lang="en-US" sz="2400" b="1" dirty="0" smtClean="0"/>
              <a:t>Intellectual property is a legal definition of: </a:t>
            </a:r>
          </a:p>
          <a:p>
            <a:pPr lvl="2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 3" pitchFamily="18" charset="2"/>
              <a:buChar char="´"/>
            </a:pPr>
            <a:r>
              <a:rPr lang="en-US" sz="2500" b="1" i="1" dirty="0" smtClean="0">
                <a:solidFill>
                  <a:srgbClr val="002060"/>
                </a:solidFill>
              </a:rPr>
              <a:t>ideas, </a:t>
            </a:r>
          </a:p>
          <a:p>
            <a:pPr lvl="2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 3" pitchFamily="18" charset="2"/>
              <a:buChar char="´"/>
            </a:pPr>
            <a:r>
              <a:rPr lang="en-US" sz="2500" b="1" i="1" dirty="0" smtClean="0">
                <a:solidFill>
                  <a:srgbClr val="002060"/>
                </a:solidFill>
              </a:rPr>
              <a:t>inventions, </a:t>
            </a:r>
          </a:p>
          <a:p>
            <a:pPr lvl="2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 3" pitchFamily="18" charset="2"/>
              <a:buChar char="´"/>
            </a:pPr>
            <a:r>
              <a:rPr lang="en-US" sz="2500" b="1" i="1" dirty="0" smtClean="0">
                <a:solidFill>
                  <a:srgbClr val="002060"/>
                </a:solidFill>
              </a:rPr>
              <a:t>artistic works and </a:t>
            </a:r>
          </a:p>
          <a:p>
            <a:pPr lvl="2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 3" pitchFamily="18" charset="2"/>
              <a:buChar char="´"/>
            </a:pPr>
            <a:r>
              <a:rPr lang="en-US" sz="2500" b="1" i="1" dirty="0" smtClean="0">
                <a:solidFill>
                  <a:srgbClr val="002060"/>
                </a:solidFill>
              </a:rPr>
              <a:t>other commercially viable products created out of one's own mental processes.</a:t>
            </a:r>
          </a:p>
          <a:p>
            <a:pPr marL="457200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" pitchFamily="2" charset="2"/>
              <a:buChar char="®"/>
            </a:pPr>
            <a:r>
              <a:rPr lang="en-US" sz="2400" b="1" i="1" dirty="0" smtClean="0"/>
              <a:t>The entrepreneur needs to </a:t>
            </a:r>
            <a:r>
              <a:rPr lang="en-US" sz="2400" b="1" i="1" dirty="0" smtClean="0">
                <a:solidFill>
                  <a:srgbClr val="C00000"/>
                </a:solidFill>
              </a:rPr>
              <a:t>protect these assets by the </a:t>
            </a:r>
            <a:r>
              <a:rPr lang="en-US" sz="2400" b="1" i="1" dirty="0" smtClean="0">
                <a:solidFill>
                  <a:srgbClr val="922E7F"/>
                </a:solidFill>
              </a:rPr>
              <a:t>relevant law.</a:t>
            </a:r>
          </a:p>
          <a:p>
            <a:pPr marL="457200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" pitchFamily="2" charset="2"/>
              <a:buChar char="®"/>
            </a:pPr>
            <a:r>
              <a:rPr lang="en-US" sz="2400" b="1" i="1" dirty="0" smtClean="0"/>
              <a:t>This is the reason why’ experts </a:t>
            </a:r>
            <a:r>
              <a:rPr lang="en-US" sz="2400" b="1" i="1" dirty="0" smtClean="0">
                <a:solidFill>
                  <a:srgbClr val="7030A0"/>
                </a:solidFill>
              </a:rPr>
              <a:t>strongly recommend </a:t>
            </a:r>
            <a:r>
              <a:rPr lang="en-US" sz="2400" b="1" i="1" dirty="0" smtClean="0"/>
              <a:t>that those in </a:t>
            </a:r>
            <a:r>
              <a:rPr lang="en-US" sz="2400" b="1" i="1" dirty="0" smtClean="0">
                <a:solidFill>
                  <a:srgbClr val="922E7F"/>
                </a:solidFill>
              </a:rPr>
              <a:t>creative fields seek protection </a:t>
            </a:r>
            <a:r>
              <a:rPr lang="en-US" sz="2400" b="1" i="1" dirty="0" smtClean="0"/>
              <a:t>through official registration of their intellectual properties.</a:t>
            </a:r>
          </a:p>
          <a:p>
            <a:pPr>
              <a:buSzPct val="99000"/>
            </a:pPr>
            <a:endParaRPr lang="en-US" sz="2500" b="1" dirty="0"/>
          </a:p>
        </p:txBody>
      </p:sp>
    </p:spTree>
    <p:extLst>
      <p:ext uri="{BB962C8B-B14F-4D97-AF65-F5344CB8AC3E}">
        <p14:creationId xmlns:p14="http://schemas.microsoft.com/office/powerpoint/2010/main" val="7092254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613648" cy="990600"/>
          </a:xfrm>
        </p:spPr>
        <p:txBody>
          <a:bodyPr>
            <a:normAutofit/>
          </a:bodyPr>
          <a:lstStyle/>
          <a:p>
            <a:r>
              <a:rPr lang="en-US" sz="2500" b="1" dirty="0" smtClean="0">
                <a:solidFill>
                  <a:srgbClr val="C00000"/>
                </a:solidFill>
              </a:rPr>
              <a:t/>
            </a:r>
            <a:br>
              <a:rPr lang="en-US" sz="2500" b="1" dirty="0" smtClean="0">
                <a:solidFill>
                  <a:srgbClr val="C00000"/>
                </a:solidFill>
              </a:rPr>
            </a:br>
            <a:r>
              <a:rPr lang="en-US" sz="2500" b="1" dirty="0" smtClean="0">
                <a:solidFill>
                  <a:srgbClr val="C00000"/>
                </a:solidFill>
              </a:rPr>
              <a:t>   4.5.2 Patents</a:t>
            </a:r>
            <a:endParaRPr lang="en-US" sz="25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600200"/>
            <a:ext cx="8839200" cy="5105400"/>
          </a:xfrm>
        </p:spPr>
        <p:txBody>
          <a:bodyPr>
            <a:noAutofit/>
          </a:bodyPr>
          <a:lstStyle/>
          <a:p>
            <a:pPr marL="457200" indent="-365760">
              <a:spcBef>
                <a:spcPts val="0"/>
              </a:spcBef>
              <a:buClr>
                <a:srgbClr val="7030A0"/>
              </a:buClr>
              <a:buSzPct val="99000"/>
              <a:buFont typeface="Wingdings" pitchFamily="2" charset="2"/>
              <a:buChar char="®"/>
            </a:pPr>
            <a:r>
              <a:rPr lang="en-US" sz="2400" b="1" dirty="0" smtClean="0"/>
              <a:t>An entrepreneur who: </a:t>
            </a:r>
          </a:p>
          <a:p>
            <a:pPr lvl="2" indent="-365760">
              <a:spcBef>
                <a:spcPts val="0"/>
              </a:spcBef>
              <a:buClr>
                <a:srgbClr val="7030A0"/>
              </a:buClr>
              <a:buSzPct val="99000"/>
              <a:buFont typeface="Wingdings 3" pitchFamily="18" charset="2"/>
              <a:buChar char="Æ"/>
            </a:pPr>
            <a:r>
              <a:rPr lang="en-US" sz="2400" b="1" i="1" dirty="0" smtClean="0">
                <a:solidFill>
                  <a:srgbClr val="C00000"/>
                </a:solidFill>
              </a:rPr>
              <a:t>invents a </a:t>
            </a:r>
            <a:r>
              <a:rPr lang="en-US" sz="2400" b="1" i="1" dirty="0" smtClean="0">
                <a:solidFill>
                  <a:srgbClr val="FF0000"/>
                </a:solidFill>
              </a:rPr>
              <a:t>new thing </a:t>
            </a:r>
            <a:r>
              <a:rPr lang="en-US" sz="2400" b="1" i="1" dirty="0" smtClean="0">
                <a:solidFill>
                  <a:srgbClr val="C00000"/>
                </a:solidFill>
              </a:rPr>
              <a:t>or </a:t>
            </a:r>
          </a:p>
          <a:p>
            <a:pPr lvl="2" indent="-365760">
              <a:spcBef>
                <a:spcPts val="0"/>
              </a:spcBef>
              <a:buClr>
                <a:srgbClr val="7030A0"/>
              </a:buClr>
              <a:buSzPct val="99000"/>
              <a:buFont typeface="Wingdings 3" pitchFamily="18" charset="2"/>
              <a:buChar char="Æ"/>
            </a:pPr>
            <a:r>
              <a:rPr lang="en-US" sz="2400" b="1" i="1" dirty="0" smtClean="0">
                <a:solidFill>
                  <a:srgbClr val="FF0000"/>
                </a:solidFill>
              </a:rPr>
              <a:t>improves</a:t>
            </a:r>
            <a:r>
              <a:rPr lang="en-US" sz="2400" b="1" i="1" dirty="0" smtClean="0">
                <a:solidFill>
                  <a:srgbClr val="C00000"/>
                </a:solidFill>
              </a:rPr>
              <a:t> an existing invention needs to get </a:t>
            </a:r>
            <a:r>
              <a:rPr lang="en-US" sz="2400" b="1" i="1" dirty="0" smtClean="0">
                <a:solidFill>
                  <a:srgbClr val="FF0000"/>
                </a:solidFill>
              </a:rPr>
              <a:t>legal protection </a:t>
            </a:r>
            <a:r>
              <a:rPr lang="en-US" sz="2400" b="1" i="1" dirty="0" smtClean="0">
                <a:solidFill>
                  <a:srgbClr val="C00000"/>
                </a:solidFill>
              </a:rPr>
              <a:t>for his/ her invention through a patent right. </a:t>
            </a:r>
          </a:p>
          <a:p>
            <a:pPr marL="457200" indent="-365760">
              <a:spcBef>
                <a:spcPts val="0"/>
              </a:spcBef>
              <a:buClr>
                <a:srgbClr val="7030A0"/>
              </a:buClr>
              <a:buSzPct val="99000"/>
              <a:buFont typeface="Wingdings" pitchFamily="2" charset="2"/>
              <a:buChar char="®"/>
            </a:pPr>
            <a:r>
              <a:rPr lang="en-US" sz="2800" b="1" dirty="0" smtClean="0">
                <a:solidFill>
                  <a:srgbClr val="C00000"/>
                </a:solidFill>
              </a:rPr>
              <a:t>A patent is:</a:t>
            </a:r>
            <a:endParaRPr lang="en-US" sz="2800" b="1" dirty="0" smtClean="0">
              <a:solidFill>
                <a:srgbClr val="0000FF"/>
              </a:solidFill>
            </a:endParaRPr>
          </a:p>
          <a:p>
            <a:pPr lvl="2" indent="-365760">
              <a:spcBef>
                <a:spcPts val="0"/>
              </a:spcBef>
              <a:buClr>
                <a:srgbClr val="7030A0"/>
              </a:buClr>
              <a:buSzPct val="99000"/>
              <a:buFont typeface="Wingdings" pitchFamily="2" charset="2"/>
              <a:buChar char="¯"/>
            </a:pPr>
            <a:r>
              <a:rPr lang="en-US" sz="2400" b="1" i="1" dirty="0" smtClean="0">
                <a:solidFill>
                  <a:schemeClr val="accent2"/>
                </a:solidFill>
              </a:rPr>
              <a:t>a contract b/n an inventor and the govn’t in w/c the govn’t, in exchange for disclosure of the invention, grants the inventor the exclusive right to enjoy the benefits resulting' from the possession of the patent.</a:t>
            </a:r>
            <a:r>
              <a:rPr lang="en-US" sz="2400" b="1" dirty="0" smtClean="0">
                <a:solidFill>
                  <a:srgbClr val="0000FF"/>
                </a:solidFill>
              </a:rPr>
              <a:t> </a:t>
            </a:r>
            <a:endParaRPr lang="en-US" sz="2400" b="1" i="1" dirty="0" smtClean="0">
              <a:solidFill>
                <a:schemeClr val="accent2"/>
              </a:solidFill>
            </a:endParaRPr>
          </a:p>
          <a:p>
            <a:pPr marL="457200" indent="-365760">
              <a:spcBef>
                <a:spcPts val="0"/>
              </a:spcBef>
              <a:buClr>
                <a:srgbClr val="7030A0"/>
              </a:buClr>
              <a:buSzPct val="99000"/>
              <a:buFont typeface="Wingdings" pitchFamily="2" charset="2"/>
              <a:buChar char="®"/>
            </a:pPr>
            <a:r>
              <a:rPr lang="en-US" sz="2400" b="1" i="1" dirty="0" smtClean="0">
                <a:solidFill>
                  <a:srgbClr val="0000FF"/>
                </a:solidFill>
              </a:rPr>
              <a:t>Utility Patent</a:t>
            </a:r>
            <a:r>
              <a:rPr lang="en-US" sz="2400" b="1" i="1" dirty="0" smtClean="0">
                <a:solidFill>
                  <a:srgbClr val="00B050"/>
                </a:solidFill>
              </a:rPr>
              <a:t>: Protects any </a:t>
            </a:r>
            <a:r>
              <a:rPr lang="en-US" sz="2400" b="1" i="1" dirty="0" smtClean="0">
                <a:solidFill>
                  <a:srgbClr val="002060"/>
                </a:solidFill>
              </a:rPr>
              <a:t>new invention </a:t>
            </a:r>
            <a:r>
              <a:rPr lang="en-US" sz="2400" b="1" i="1" dirty="0" smtClean="0">
                <a:solidFill>
                  <a:srgbClr val="00B050"/>
                </a:solidFill>
              </a:rPr>
              <a:t>or </a:t>
            </a:r>
            <a:r>
              <a:rPr lang="en-US" sz="2400" b="1" i="1" dirty="0" smtClean="0">
                <a:solidFill>
                  <a:srgbClr val="002060"/>
                </a:solidFill>
              </a:rPr>
              <a:t>functional improvements </a:t>
            </a:r>
            <a:r>
              <a:rPr lang="en-US" sz="2400" b="1" i="1" dirty="0" smtClean="0">
                <a:solidFill>
                  <a:srgbClr val="00B050"/>
                </a:solidFill>
              </a:rPr>
              <a:t>on existing inventions.</a:t>
            </a:r>
          </a:p>
          <a:p>
            <a:pPr marL="457200" indent="-365760">
              <a:spcBef>
                <a:spcPts val="0"/>
              </a:spcBef>
              <a:buClr>
                <a:srgbClr val="7030A0"/>
              </a:buClr>
              <a:buSzPct val="99000"/>
              <a:buFont typeface="Wingdings" pitchFamily="2" charset="2"/>
              <a:buChar char="®"/>
            </a:pPr>
            <a:r>
              <a:rPr lang="en-US" sz="2400" b="1" i="1" dirty="0" smtClean="0">
                <a:solidFill>
                  <a:srgbClr val="0000FF"/>
                </a:solidFill>
              </a:rPr>
              <a:t>Design Patent: </a:t>
            </a:r>
            <a:r>
              <a:rPr lang="en-US" sz="2400" b="1" i="1" dirty="0" smtClean="0">
                <a:solidFill>
                  <a:srgbClr val="00B050"/>
                </a:solidFill>
              </a:rPr>
              <a:t>Protects the </a:t>
            </a:r>
            <a:r>
              <a:rPr lang="en-US" sz="2400" b="1" i="1" dirty="0" smtClean="0">
                <a:solidFill>
                  <a:srgbClr val="002060"/>
                </a:solidFill>
              </a:rPr>
              <a:t>appearance</a:t>
            </a:r>
            <a:r>
              <a:rPr lang="en-US" sz="2400" b="1" i="1" dirty="0" smtClean="0">
                <a:solidFill>
                  <a:srgbClr val="00B050"/>
                </a:solidFill>
              </a:rPr>
              <a:t> of an object and covers new, original, ornamental, and unobvious designs for articles of manufacture</a:t>
            </a:r>
            <a:r>
              <a:rPr lang="en-US" sz="2400" b="1" dirty="0" smtClean="0">
                <a:solidFill>
                  <a:srgbClr val="00B050"/>
                </a:solidFill>
              </a:rPr>
              <a:t>. </a:t>
            </a:r>
            <a:endParaRPr lang="en-US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2254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613648" cy="990600"/>
          </a:xfrm>
        </p:spPr>
        <p:txBody>
          <a:bodyPr>
            <a:normAutofit/>
          </a:bodyPr>
          <a:lstStyle/>
          <a:p>
            <a:r>
              <a:rPr lang="en-US" sz="2500" b="1" dirty="0" smtClean="0"/>
              <a:t/>
            </a:r>
            <a:br>
              <a:rPr lang="en-US" sz="2500" b="1" dirty="0" smtClean="0"/>
            </a:br>
            <a:r>
              <a:rPr lang="en-US" sz="2500" b="1" dirty="0" smtClean="0"/>
              <a:t>  Conti…</a:t>
            </a:r>
            <a:endParaRPr lang="en-US" sz="25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600200"/>
            <a:ext cx="8839200" cy="5105400"/>
          </a:xfrm>
        </p:spPr>
        <p:txBody>
          <a:bodyPr>
            <a:noAutofit/>
          </a:bodyPr>
          <a:lstStyle/>
          <a:p>
            <a:pPr marL="457200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" pitchFamily="2" charset="2"/>
              <a:buChar char="®"/>
            </a:pPr>
            <a:r>
              <a:rPr lang="en-US" sz="2600" b="1" dirty="0" smtClean="0"/>
              <a:t>This patent is appropriate when the basic product already exists in the marketplace and is </a:t>
            </a:r>
            <a:r>
              <a:rPr lang="en-US" sz="2600" b="1" dirty="0" smtClean="0">
                <a:solidFill>
                  <a:srgbClr val="922E7F"/>
                </a:solidFill>
              </a:rPr>
              <a:t>not being improved in function but only in style.</a:t>
            </a:r>
          </a:p>
          <a:p>
            <a:pPr marL="457200" indent="-365760">
              <a:spcBef>
                <a:spcPts val="0"/>
              </a:spcBef>
              <a:buClr>
                <a:srgbClr val="002060"/>
              </a:buClr>
              <a:buSzPct val="99000"/>
              <a:buFont typeface="Wingdings" pitchFamily="2" charset="2"/>
              <a:buChar char="®"/>
            </a:pPr>
            <a:r>
              <a:rPr lang="en-US" sz="2600" b="1" dirty="0" smtClean="0">
                <a:solidFill>
                  <a:srgbClr val="FF0000"/>
                </a:solidFill>
              </a:rPr>
              <a:t>A patent is an intellectual property right and It is issued by government to the inventor. </a:t>
            </a:r>
          </a:p>
          <a:p>
            <a:pPr marL="457200" indent="-365760">
              <a:buClr>
                <a:srgbClr val="0033CC"/>
              </a:buClr>
              <a:buSzPct val="99000"/>
              <a:buFont typeface="Wingdings" pitchFamily="2" charset="2"/>
              <a:buChar char="®"/>
            </a:pPr>
            <a:r>
              <a:rPr lang="en-US" sz="2600" b="1" dirty="0" smtClean="0">
                <a:solidFill>
                  <a:srgbClr val="0000FF"/>
                </a:solidFill>
              </a:rPr>
              <a:t>What Can Be Patented Then?</a:t>
            </a:r>
          </a:p>
          <a:p>
            <a:pPr marL="822960" lvl="2" indent="-365760">
              <a:spcBef>
                <a:spcPts val="0"/>
              </a:spcBef>
              <a:buClr>
                <a:srgbClr val="FF0000"/>
              </a:buClr>
              <a:buSzPct val="99000"/>
            </a:pPr>
            <a:r>
              <a:rPr lang="en-US" sz="2600" b="1" i="1" dirty="0" smtClean="0">
                <a:solidFill>
                  <a:srgbClr val="FF0000"/>
                </a:solidFill>
              </a:rPr>
              <a:t>Processes: </a:t>
            </a:r>
            <a:r>
              <a:rPr lang="en-US" sz="2600" b="1" i="1" dirty="0" smtClean="0"/>
              <a:t>Methods of production, research, testing, analysis, technologies with new applications.</a:t>
            </a:r>
          </a:p>
          <a:p>
            <a:pPr marL="822960" lvl="2" indent="-365760">
              <a:spcBef>
                <a:spcPts val="0"/>
              </a:spcBef>
              <a:buClr>
                <a:srgbClr val="FF0000"/>
              </a:buClr>
              <a:buSzPct val="99000"/>
            </a:pPr>
            <a:r>
              <a:rPr lang="en-US" sz="2600" b="1" i="1" dirty="0" smtClean="0">
                <a:solidFill>
                  <a:srgbClr val="FF0000"/>
                </a:solidFill>
              </a:rPr>
              <a:t>Machines:</a:t>
            </a:r>
            <a:r>
              <a:rPr lang="en-US" sz="2600" b="1" i="1" dirty="0" smtClean="0"/>
              <a:t> Products, instruments, physical objects.</a:t>
            </a:r>
          </a:p>
          <a:p>
            <a:pPr marL="822960" lvl="2" indent="-365760">
              <a:spcBef>
                <a:spcPts val="0"/>
              </a:spcBef>
              <a:buClr>
                <a:srgbClr val="FF0000"/>
              </a:buClr>
              <a:buSzPct val="99000"/>
            </a:pPr>
            <a:r>
              <a:rPr lang="en-US" sz="2600" b="1" i="1" dirty="0" smtClean="0">
                <a:solidFill>
                  <a:srgbClr val="FF0000"/>
                </a:solidFill>
              </a:rPr>
              <a:t>Manufactures: </a:t>
            </a:r>
            <a:r>
              <a:rPr lang="en-US" sz="2600" b="1" i="1" dirty="0" smtClean="0"/>
              <a:t>Combinations of physical matter not naturally found.</a:t>
            </a:r>
          </a:p>
          <a:p>
            <a:pPr marL="822960" lvl="2" indent="-365760">
              <a:spcBef>
                <a:spcPts val="0"/>
              </a:spcBef>
              <a:buClr>
                <a:srgbClr val="FF0000"/>
              </a:buClr>
              <a:buSzPct val="99000"/>
            </a:pPr>
            <a:r>
              <a:rPr lang="en-US" sz="2600" b="1" i="1" dirty="0" smtClean="0">
                <a:solidFill>
                  <a:srgbClr val="FF0000"/>
                </a:solidFill>
              </a:rPr>
              <a:t>Composition of matter: </a:t>
            </a:r>
            <a:r>
              <a:rPr lang="en-US" sz="2600" b="1" i="1" dirty="0" smtClean="0"/>
              <a:t>Chemical compounds, medicines..</a:t>
            </a:r>
          </a:p>
          <a:p>
            <a:pPr marL="822960" indent="-365760">
              <a:spcBef>
                <a:spcPts val="0"/>
              </a:spcBef>
              <a:buFont typeface="Wingdings" pitchFamily="2" charset="2"/>
              <a:buChar char="q"/>
            </a:pPr>
            <a:endParaRPr lang="en-US" sz="2400" b="1" dirty="0" smtClean="0"/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endParaRPr lang="en-US" sz="2500" b="1" dirty="0" smtClean="0"/>
          </a:p>
        </p:txBody>
      </p:sp>
    </p:spTree>
    <p:extLst>
      <p:ext uri="{BB962C8B-B14F-4D97-AF65-F5344CB8AC3E}">
        <p14:creationId xmlns:p14="http://schemas.microsoft.com/office/powerpoint/2010/main" val="7092254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613648" cy="9906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/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   4.5.3 Trademarks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600200"/>
            <a:ext cx="8839200" cy="5105400"/>
          </a:xfrm>
        </p:spPr>
        <p:txBody>
          <a:bodyPr>
            <a:noAutofit/>
          </a:bodyPr>
          <a:lstStyle/>
          <a:p>
            <a:pPr marL="457200" indent="-365760">
              <a:spcBef>
                <a:spcPts val="0"/>
              </a:spcBef>
              <a:buSzPct val="98000"/>
              <a:buFont typeface="Wingdings" pitchFamily="2" charset="2"/>
              <a:buChar char="®"/>
            </a:pPr>
            <a:r>
              <a:rPr lang="en-US" sz="2800" b="1" dirty="0" smtClean="0">
                <a:solidFill>
                  <a:srgbClr val="C00000"/>
                </a:solidFill>
              </a:rPr>
              <a:t>A trademark </a:t>
            </a:r>
            <a:r>
              <a:rPr lang="en-US" sz="2600" b="1" dirty="0" smtClean="0"/>
              <a:t>may be:</a:t>
            </a:r>
          </a:p>
          <a:p>
            <a:pPr marL="731520" lvl="2" indent="-365760">
              <a:spcBef>
                <a:spcPts val="0"/>
              </a:spcBef>
              <a:buClr>
                <a:srgbClr val="002060"/>
              </a:buClr>
              <a:buSzPct val="98000"/>
              <a:buFont typeface="Wingdings 3" pitchFamily="18" charset="2"/>
              <a:buChar char="Æ"/>
            </a:pPr>
            <a:r>
              <a:rPr lang="en-US" sz="2600" b="1" i="1" dirty="0" smtClean="0"/>
              <a:t>a word, symbol, design, or some combination of such, or it could be a slogan or even a particular sound that identifies the source or sponsorship of certain goods or services.</a:t>
            </a:r>
          </a:p>
          <a:p>
            <a:pPr marL="731520" lvl="2" indent="-365760">
              <a:spcBef>
                <a:spcPts val="0"/>
              </a:spcBef>
              <a:buClr>
                <a:srgbClr val="002060"/>
              </a:buClr>
              <a:buSzPct val="98000"/>
              <a:buFont typeface="Wingdings 3" pitchFamily="18" charset="2"/>
              <a:buChar char="Æ"/>
            </a:pPr>
            <a:r>
              <a:rPr lang="en-US" sz="2600" b="1" i="1" dirty="0" smtClean="0"/>
              <a:t>These are distinctive names, marks, symbols or motto </a:t>
            </a:r>
            <a:r>
              <a:rPr lang="en-US" sz="2600" b="1" i="1" dirty="0" smtClean="0">
                <a:solidFill>
                  <a:srgbClr val="7030A0"/>
                </a:solidFill>
              </a:rPr>
              <a:t>identified</a:t>
            </a:r>
            <a:r>
              <a:rPr lang="en-US" sz="2600" b="1" i="1" dirty="0" smtClean="0"/>
              <a:t> with a company’s product or service and </a:t>
            </a:r>
            <a:r>
              <a:rPr lang="en-US" sz="2600" b="1" i="1" dirty="0" smtClean="0">
                <a:solidFill>
                  <a:srgbClr val="7030A0"/>
                </a:solidFill>
              </a:rPr>
              <a:t>registered</a:t>
            </a:r>
            <a:r>
              <a:rPr lang="en-US" sz="2600" b="1" i="1" dirty="0" smtClean="0"/>
              <a:t> by government offices. </a:t>
            </a:r>
          </a:p>
          <a:p>
            <a:pPr marL="731520" lvl="2" indent="-365760">
              <a:spcBef>
                <a:spcPts val="0"/>
              </a:spcBef>
              <a:buClr>
                <a:srgbClr val="002060"/>
              </a:buClr>
              <a:buSzPct val="98000"/>
              <a:buFont typeface="Wingdings 3" pitchFamily="18" charset="2"/>
              <a:buChar char="Æ"/>
            </a:pPr>
            <a:r>
              <a:rPr lang="en-US" sz="2600" b="1" i="1" dirty="0" smtClean="0"/>
              <a:t>Trademarks unlike patents are </a:t>
            </a:r>
            <a:r>
              <a:rPr lang="en-US" sz="2600" b="1" i="1" dirty="0" smtClean="0">
                <a:solidFill>
                  <a:srgbClr val="7030A0"/>
                </a:solidFill>
              </a:rPr>
              <a:t>periodically renewed </a:t>
            </a:r>
            <a:r>
              <a:rPr lang="en-US" sz="2600" b="1" i="1" dirty="0" smtClean="0"/>
              <a:t>unless invalidated by cancellations, abandonment, or other technical registration/renewal issues.</a:t>
            </a:r>
          </a:p>
          <a:p>
            <a:pPr marL="548640" indent="-457200">
              <a:buClr>
                <a:srgbClr val="0000FF"/>
              </a:buClr>
              <a:buSzPct val="98000"/>
              <a:buNone/>
            </a:pPr>
            <a:endParaRPr lang="en-US" sz="2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2254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613648" cy="990600"/>
          </a:xfrm>
        </p:spPr>
        <p:txBody>
          <a:bodyPr>
            <a:normAutofit/>
          </a:bodyPr>
          <a:lstStyle/>
          <a:p>
            <a:r>
              <a:rPr lang="en-US" sz="2500" b="1" dirty="0" smtClean="0"/>
              <a:t/>
            </a:r>
            <a:br>
              <a:rPr lang="en-US" sz="2500" b="1" dirty="0" smtClean="0"/>
            </a:br>
            <a:r>
              <a:rPr lang="en-US" sz="2500" b="1" dirty="0" smtClean="0"/>
              <a:t>  Conti…</a:t>
            </a:r>
            <a:endParaRPr lang="en-US" sz="25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524000"/>
            <a:ext cx="8839200" cy="5181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700" b="1" dirty="0" smtClean="0">
                <a:solidFill>
                  <a:srgbClr val="7030A0"/>
                </a:solidFill>
              </a:rPr>
              <a:t>    </a:t>
            </a:r>
            <a:r>
              <a:rPr lang="en-US" sz="2700" b="1" u="sng" dirty="0" smtClean="0">
                <a:solidFill>
                  <a:srgbClr val="7030A0"/>
                </a:solidFill>
              </a:rPr>
              <a:t>Benefits of a Registered Trademark</a:t>
            </a:r>
          </a:p>
          <a:p>
            <a:pPr marL="640080" lvl="2" indent="-457200">
              <a:buClr>
                <a:srgbClr val="7030A0"/>
              </a:buClr>
              <a:buSzPct val="131000"/>
              <a:buFont typeface="Wingdings" pitchFamily="2" charset="2"/>
              <a:buChar char=""/>
            </a:pPr>
            <a:r>
              <a:rPr lang="en-US" sz="2600" b="1" i="1" dirty="0" smtClean="0"/>
              <a:t>It provides exclusive rights to the use of the mark throughout the </a:t>
            </a:r>
            <a:r>
              <a:rPr lang="en-US" sz="2600" b="1" i="1" dirty="0" smtClean="0">
                <a:solidFill>
                  <a:srgbClr val="FF0000"/>
                </a:solidFill>
              </a:rPr>
              <a:t>territorial limits of the country.</a:t>
            </a:r>
          </a:p>
          <a:p>
            <a:pPr marL="640080" lvl="2" indent="-457200">
              <a:buClr>
                <a:srgbClr val="7030A0"/>
              </a:buClr>
              <a:buSzPct val="131000"/>
              <a:buFont typeface="Wingdings" pitchFamily="2" charset="2"/>
              <a:buChar char=""/>
            </a:pPr>
            <a:r>
              <a:rPr lang="en-US" sz="2600" b="1" i="1" dirty="0" smtClean="0"/>
              <a:t>It entitles you to </a:t>
            </a:r>
            <a:r>
              <a:rPr lang="en-US" sz="2600" b="1" i="1" dirty="0" smtClean="0">
                <a:solidFill>
                  <a:srgbClr val="FF0000"/>
                </a:solidFill>
              </a:rPr>
              <a:t>sue</a:t>
            </a:r>
            <a:r>
              <a:rPr lang="en-US" sz="2600" b="1" i="1" dirty="0" smtClean="0"/>
              <a:t> in federal court for </a:t>
            </a:r>
            <a:r>
              <a:rPr lang="en-US" sz="2600" b="1" i="1" dirty="0" smtClean="0">
                <a:solidFill>
                  <a:srgbClr val="FF0000"/>
                </a:solidFill>
              </a:rPr>
              <a:t>trademark</a:t>
            </a:r>
            <a:r>
              <a:rPr lang="en-US" sz="2600" b="1" i="1" dirty="0" smtClean="0"/>
              <a:t> </a:t>
            </a:r>
            <a:r>
              <a:rPr lang="en-US" sz="2600" b="1" i="1" dirty="0" smtClean="0">
                <a:solidFill>
                  <a:srgbClr val="FF0000"/>
                </a:solidFill>
              </a:rPr>
              <a:t>violation</a:t>
            </a:r>
            <a:r>
              <a:rPr lang="en-US" sz="2600" b="1" i="1" dirty="0" smtClean="0"/>
              <a:t>, w/c can result in </a:t>
            </a:r>
            <a:r>
              <a:rPr lang="en-US" sz="2600" b="1" i="1" dirty="0" err="1"/>
              <a:t>recoveof</a:t>
            </a:r>
            <a:r>
              <a:rPr lang="en-US" sz="2600" b="1" i="1" dirty="0"/>
              <a:t> </a:t>
            </a:r>
            <a:r>
              <a:rPr lang="en-US" sz="2600" b="1" i="1" dirty="0" err="1"/>
              <a:t>ry</a:t>
            </a:r>
            <a:r>
              <a:rPr lang="en-US" sz="2600" b="1" i="1" dirty="0"/>
              <a:t> profits</a:t>
            </a:r>
            <a:r>
              <a:rPr lang="en-US" sz="2600" b="1" i="1" dirty="0" smtClean="0"/>
              <a:t>, damages, and costs.</a:t>
            </a:r>
          </a:p>
          <a:p>
            <a:pPr marL="640080" lvl="2" indent="-457200">
              <a:buClr>
                <a:srgbClr val="7030A0"/>
              </a:buClr>
              <a:buSzPct val="131000"/>
              <a:buFont typeface="Wingdings" pitchFamily="2" charset="2"/>
              <a:buChar char=""/>
            </a:pPr>
            <a:r>
              <a:rPr lang="en-US" sz="2600" b="1" i="1" dirty="0" smtClean="0"/>
              <a:t>It establishes </a:t>
            </a:r>
            <a:r>
              <a:rPr lang="en-US" sz="2600" b="1" i="1" u="sng" dirty="0" smtClean="0">
                <a:solidFill>
                  <a:srgbClr val="FF0000"/>
                </a:solidFill>
              </a:rPr>
              <a:t>incontestable</a:t>
            </a:r>
            <a:r>
              <a:rPr lang="en-US" sz="2600" b="1" i="1" dirty="0" smtClean="0"/>
              <a:t> rights regarding the commercial use of the mark.</a:t>
            </a:r>
          </a:p>
          <a:p>
            <a:pPr marL="640080" lvl="2" indent="-457200">
              <a:buClr>
                <a:srgbClr val="7030A0"/>
              </a:buClr>
              <a:buSzPct val="131000"/>
              <a:buFont typeface="Wingdings" pitchFamily="2" charset="2"/>
              <a:buChar char=""/>
            </a:pPr>
            <a:r>
              <a:rPr lang="en-US" sz="2600" b="1" i="1" dirty="0" smtClean="0"/>
              <a:t>It establishes the </a:t>
            </a:r>
            <a:r>
              <a:rPr lang="en-US" sz="2600" b="1" i="1" dirty="0" smtClean="0">
                <a:solidFill>
                  <a:srgbClr val="FF0000"/>
                </a:solidFill>
              </a:rPr>
              <a:t>right to deposit registration </a:t>
            </a:r>
            <a:r>
              <a:rPr lang="en-US" sz="2600" b="1" i="1" dirty="0" smtClean="0"/>
              <a:t>with customs to </a:t>
            </a:r>
            <a:r>
              <a:rPr lang="en-US" sz="2600" b="1" i="1" dirty="0" smtClean="0">
                <a:solidFill>
                  <a:srgbClr val="FF0000"/>
                </a:solidFill>
              </a:rPr>
              <a:t>prevent importation of goods </a:t>
            </a:r>
            <a:r>
              <a:rPr lang="en-US" sz="2600" b="1" i="1" dirty="0" smtClean="0"/>
              <a:t>with a similar mark.</a:t>
            </a:r>
          </a:p>
          <a:p>
            <a:pPr marL="640080" lvl="2" indent="-457200">
              <a:buClr>
                <a:srgbClr val="7030A0"/>
              </a:buClr>
              <a:buSzPct val="131000"/>
              <a:buFont typeface="Wingdings" pitchFamily="2" charset="2"/>
              <a:buChar char=""/>
            </a:pPr>
            <a:r>
              <a:rPr lang="en-US" sz="2600" b="1" i="1" dirty="0" smtClean="0"/>
              <a:t>It entitles you to use the notice of registration </a:t>
            </a:r>
            <a:r>
              <a:rPr lang="en-US" sz="2800" b="1" i="1" dirty="0" smtClean="0">
                <a:solidFill>
                  <a:srgbClr val="FF0000"/>
                </a:solidFill>
              </a:rPr>
              <a:t>(®).</a:t>
            </a:r>
          </a:p>
          <a:p>
            <a:pPr marL="640080" lvl="2" indent="-457200">
              <a:buClr>
                <a:srgbClr val="7030A0"/>
              </a:buClr>
              <a:buSzPct val="131000"/>
              <a:buFont typeface="Wingdings" pitchFamily="2" charset="2"/>
              <a:buChar char=""/>
            </a:pPr>
            <a:r>
              <a:rPr lang="en-US" sz="2600" b="1" i="1" dirty="0" smtClean="0"/>
              <a:t>It provides a basis for </a:t>
            </a:r>
            <a:r>
              <a:rPr lang="en-US" sz="2600" b="1" i="1" dirty="0" smtClean="0">
                <a:solidFill>
                  <a:srgbClr val="FF0000"/>
                </a:solidFill>
              </a:rPr>
              <a:t>filing</a:t>
            </a:r>
            <a:r>
              <a:rPr lang="en-US" sz="2600" b="1" i="1" dirty="0" smtClean="0"/>
              <a:t> trademark application in foreign countries.</a:t>
            </a:r>
          </a:p>
          <a:p>
            <a:pPr marL="731520" indent="-365760">
              <a:buClr>
                <a:srgbClr val="7030A0"/>
              </a:buClr>
              <a:buSzPct val="97000"/>
              <a:buFont typeface="Wingdings" pitchFamily="2" charset="2"/>
              <a:buChar char="q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092254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613648" cy="9906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/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   4.5.4 Copyrights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600200"/>
            <a:ext cx="8839200" cy="5105400"/>
          </a:xfrm>
        </p:spPr>
        <p:txBody>
          <a:bodyPr>
            <a:noAutofit/>
          </a:bodyPr>
          <a:lstStyle/>
          <a:p>
            <a:pPr marL="457200" indent="-365760">
              <a:buSzPct val="99000"/>
              <a:buFont typeface="Wingdings" pitchFamily="2" charset="2"/>
              <a:buChar char="®"/>
            </a:pPr>
            <a:r>
              <a:rPr lang="en-US" sz="3200" b="1" dirty="0" smtClean="0">
                <a:solidFill>
                  <a:srgbClr val="C00000"/>
                </a:solidFill>
              </a:rPr>
              <a:t>Copyright</a:t>
            </a:r>
            <a:r>
              <a:rPr lang="en-US" sz="2500" b="1" dirty="0" smtClean="0">
                <a:solidFill>
                  <a:srgbClr val="C00000"/>
                </a:solidFill>
              </a:rPr>
              <a:t>:</a:t>
            </a:r>
          </a:p>
          <a:p>
            <a:pPr marL="731520" lvl="2" indent="-365760">
              <a:spcBef>
                <a:spcPts val="0"/>
              </a:spcBef>
              <a:buSzPct val="99000"/>
              <a:buFont typeface="Wingdings 3" pitchFamily="18" charset="2"/>
              <a:buChar char="u"/>
            </a:pPr>
            <a:r>
              <a:rPr lang="en-US" sz="2600" b="1" i="1" dirty="0" smtClean="0"/>
              <a:t>is a right given to </a:t>
            </a:r>
            <a:r>
              <a:rPr lang="en-US" sz="2600" b="1" i="1" dirty="0" smtClean="0">
                <a:solidFill>
                  <a:srgbClr val="FF0000"/>
                </a:solidFill>
              </a:rPr>
              <a:t>prevent</a:t>
            </a:r>
            <a:r>
              <a:rPr lang="en-US" sz="2600" b="1" i="1" dirty="0" smtClean="0"/>
              <a:t> others from - </a:t>
            </a:r>
          </a:p>
          <a:p>
            <a:pPr marL="1554480" lvl="6" indent="-365760">
              <a:spcBef>
                <a:spcPts val="0"/>
              </a:spcBef>
              <a:buClr>
                <a:srgbClr val="00B050"/>
              </a:buClr>
              <a:buSzPct val="97000"/>
              <a:buFont typeface="Wingdings 3" pitchFamily="18" charset="2"/>
              <a:buChar char="´"/>
            </a:pPr>
            <a:r>
              <a:rPr lang="en-US" sz="2600" b="1" i="1" dirty="0" smtClean="0">
                <a:solidFill>
                  <a:srgbClr val="00B050"/>
                </a:solidFill>
              </a:rPr>
              <a:t>printing, </a:t>
            </a:r>
          </a:p>
          <a:p>
            <a:pPr marL="1554480" lvl="6" indent="-365760">
              <a:spcBef>
                <a:spcPts val="0"/>
              </a:spcBef>
              <a:buClr>
                <a:srgbClr val="00B050"/>
              </a:buClr>
              <a:buSzPct val="97000"/>
              <a:buFont typeface="Wingdings 3" pitchFamily="18" charset="2"/>
              <a:buChar char="´"/>
            </a:pPr>
            <a:r>
              <a:rPr lang="en-US" sz="2600" b="1" i="1" dirty="0" smtClean="0">
                <a:solidFill>
                  <a:srgbClr val="00B050"/>
                </a:solidFill>
              </a:rPr>
              <a:t>copying, or </a:t>
            </a:r>
          </a:p>
          <a:p>
            <a:pPr marL="1554480" lvl="6" indent="-365760">
              <a:spcBef>
                <a:spcPts val="0"/>
              </a:spcBef>
              <a:buClr>
                <a:srgbClr val="00B050"/>
              </a:buClr>
              <a:buSzPct val="97000"/>
              <a:buFont typeface="Wingdings 3" pitchFamily="18" charset="2"/>
              <a:buChar char="´"/>
            </a:pPr>
            <a:r>
              <a:rPr lang="en-US" sz="2600" b="1" i="1" dirty="0" smtClean="0">
                <a:solidFill>
                  <a:srgbClr val="00B050"/>
                </a:solidFill>
              </a:rPr>
              <a:t>publishing any original works of authorship.</a:t>
            </a:r>
          </a:p>
          <a:p>
            <a:pPr marL="731520" lvl="2" indent="-365760">
              <a:spcBef>
                <a:spcPts val="0"/>
              </a:spcBef>
              <a:buSzPct val="99000"/>
              <a:buFont typeface="Wingdings 3" pitchFamily="18" charset="2"/>
              <a:buChar char="u"/>
            </a:pPr>
            <a:r>
              <a:rPr lang="en-US" sz="2600" b="1" i="1" dirty="0" smtClean="0"/>
              <a:t>provide exclusive rights to creative individuals for the protection of </a:t>
            </a:r>
            <a:r>
              <a:rPr lang="en-US" sz="2600" b="1" i="1" dirty="0" smtClean="0">
                <a:solidFill>
                  <a:srgbClr val="FF0000"/>
                </a:solidFill>
              </a:rPr>
              <a:t>literary </a:t>
            </a:r>
            <a:r>
              <a:rPr lang="en-US" sz="2600" b="1" i="1" dirty="0" smtClean="0"/>
              <a:t>or </a:t>
            </a:r>
            <a:r>
              <a:rPr lang="en-US" sz="2600" b="1" i="1" dirty="0" smtClean="0">
                <a:solidFill>
                  <a:srgbClr val="FF0000"/>
                </a:solidFill>
              </a:rPr>
              <a:t>artistic productions. </a:t>
            </a:r>
          </a:p>
          <a:p>
            <a:pPr marL="731520" lvl="2" indent="-365760">
              <a:spcBef>
                <a:spcPts val="0"/>
              </a:spcBef>
              <a:buSzPct val="99000"/>
              <a:buFont typeface="Wingdings 3" pitchFamily="18" charset="2"/>
              <a:buChar char="u"/>
            </a:pPr>
            <a:r>
              <a:rPr lang="en-US" sz="2600" b="1" i="1" dirty="0" smtClean="0"/>
              <a:t>protects </a:t>
            </a:r>
            <a:r>
              <a:rPr lang="en-US" sz="2600" b="1" i="1" dirty="0" smtClean="0">
                <a:solidFill>
                  <a:srgbClr val="FF0000"/>
                </a:solidFill>
              </a:rPr>
              <a:t>original works of authorship </a:t>
            </a:r>
            <a:r>
              <a:rPr lang="en-US" sz="2600" b="1" i="1" dirty="0" smtClean="0"/>
              <a:t>including literary, dramatic, musical, and artistic works, such as poetry, novels, movies, songs, computer software, and architecture. </a:t>
            </a:r>
          </a:p>
          <a:p>
            <a:pPr marL="731520" lvl="2" indent="-365760">
              <a:spcBef>
                <a:spcPts val="0"/>
              </a:spcBef>
              <a:buSzPct val="99000"/>
              <a:buFont typeface="Wingdings 3" pitchFamily="18" charset="2"/>
              <a:buChar char="u"/>
            </a:pPr>
            <a:r>
              <a:rPr lang="en-US" sz="2600" b="1" i="1" dirty="0" smtClean="0"/>
              <a:t>are valid for the </a:t>
            </a:r>
            <a:r>
              <a:rPr lang="en-US" sz="2600" b="1" i="1" dirty="0" smtClean="0">
                <a:solidFill>
                  <a:srgbClr val="FF0000"/>
                </a:solidFill>
              </a:rPr>
              <a:t>life of the inventor plus a few decades.</a:t>
            </a:r>
          </a:p>
        </p:txBody>
      </p:sp>
    </p:spTree>
    <p:extLst>
      <p:ext uri="{BB962C8B-B14F-4D97-AF65-F5344CB8AC3E}">
        <p14:creationId xmlns:p14="http://schemas.microsoft.com/office/powerpoint/2010/main" val="7092254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613648" cy="9906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Assignment 2</a:t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   4.6 The Intellectual Property System in Ethiopia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600200"/>
            <a:ext cx="8839200" cy="5105400"/>
          </a:xfrm>
        </p:spPr>
        <p:txBody>
          <a:bodyPr>
            <a:noAutofit/>
          </a:bodyPr>
          <a:lstStyle/>
          <a:p>
            <a:pPr marL="457200" indent="-365760">
              <a:buSzPct val="99000"/>
              <a:buFont typeface="Wingdings" pitchFamily="2" charset="2"/>
              <a:buChar char="®"/>
            </a:pPr>
            <a:r>
              <a:rPr lang="en-US" sz="2600" b="1" dirty="0" smtClean="0"/>
              <a:t>The Ethiopian Government established the Ethiopian Intellectual Property Office in the year 2003 containing the understated</a:t>
            </a:r>
            <a:r>
              <a:rPr lang="en-US" sz="2600" b="1" dirty="0" smtClean="0">
                <a:solidFill>
                  <a:schemeClr val="accent2"/>
                </a:solidFill>
              </a:rPr>
              <a:t> </a:t>
            </a:r>
            <a:r>
              <a:rPr lang="en-US" sz="2600" b="1" dirty="0" smtClean="0">
                <a:solidFill>
                  <a:srgbClr val="002060"/>
                </a:solidFill>
              </a:rPr>
              <a:t>Objectives:-</a:t>
            </a:r>
          </a:p>
          <a:p>
            <a:pPr marL="731520" lvl="2" indent="-365760">
              <a:spcBef>
                <a:spcPts val="0"/>
              </a:spcBef>
              <a:buSzPct val="99000"/>
              <a:buFont typeface="Wingdings 3" pitchFamily="18" charset="2"/>
              <a:buChar char="Æ"/>
            </a:pPr>
            <a:r>
              <a:rPr lang="en-US" sz="2600" b="1" i="1" dirty="0" smtClean="0">
                <a:solidFill>
                  <a:schemeClr val="accent2"/>
                </a:solidFill>
              </a:rPr>
              <a:t>To facilitate the </a:t>
            </a:r>
            <a:r>
              <a:rPr lang="en-US" sz="2600" b="1" i="1" dirty="0" smtClean="0">
                <a:solidFill>
                  <a:srgbClr val="C00000"/>
                </a:solidFill>
              </a:rPr>
              <a:t>provision of adequate legal protection </a:t>
            </a:r>
            <a:r>
              <a:rPr lang="en-US" sz="2600" b="1" i="1" dirty="0" smtClean="0">
                <a:solidFill>
                  <a:schemeClr val="accent2"/>
                </a:solidFill>
              </a:rPr>
              <a:t>for and exploitation of intellectual property in the country;</a:t>
            </a:r>
          </a:p>
          <a:p>
            <a:pPr marL="731520" lvl="2" indent="-365760">
              <a:spcBef>
                <a:spcPts val="0"/>
              </a:spcBef>
              <a:buSzPct val="99000"/>
              <a:buFont typeface="Wingdings 3" pitchFamily="18" charset="2"/>
              <a:buChar char="Æ"/>
            </a:pPr>
            <a:r>
              <a:rPr lang="en-US" sz="2600" b="1" i="1" dirty="0" smtClean="0">
                <a:solidFill>
                  <a:schemeClr val="accent2"/>
                </a:solidFill>
              </a:rPr>
              <a:t>To collect, organize and disseminate technological information contained in patent documents and encourage its utilization;</a:t>
            </a:r>
          </a:p>
          <a:p>
            <a:pPr marL="731520" lvl="2" indent="-365760">
              <a:spcBef>
                <a:spcPts val="0"/>
              </a:spcBef>
              <a:buSzPct val="99000"/>
              <a:buFont typeface="Wingdings 3" pitchFamily="18" charset="2"/>
              <a:buChar char="Æ"/>
            </a:pPr>
            <a:r>
              <a:rPr lang="en-US" sz="2600" b="1" i="1" dirty="0" smtClean="0">
                <a:solidFill>
                  <a:schemeClr val="accent2"/>
                </a:solidFill>
              </a:rPr>
              <a:t>To study, analyze and recommend policies and legislation on intellectual property to the government; and</a:t>
            </a:r>
          </a:p>
          <a:p>
            <a:pPr marL="731520" lvl="2" indent="-365760">
              <a:spcBef>
                <a:spcPts val="0"/>
              </a:spcBef>
              <a:buSzPct val="99000"/>
              <a:buFont typeface="Wingdings 3" pitchFamily="18" charset="2"/>
              <a:buChar char="Æ"/>
            </a:pPr>
            <a:r>
              <a:rPr lang="en-US" sz="2600" b="1" i="1" dirty="0" smtClean="0">
                <a:solidFill>
                  <a:schemeClr val="accent2"/>
                </a:solidFill>
              </a:rPr>
              <a:t>To promote knowledge and understanding of intellectual property among the general public;</a:t>
            </a:r>
          </a:p>
          <a:p>
            <a:endParaRPr lang="en-US" sz="2600" b="1" dirty="0" smtClean="0"/>
          </a:p>
          <a:p>
            <a:pPr>
              <a:buFont typeface="Wingdings" pitchFamily="2" charset="2"/>
              <a:buChar char="q"/>
            </a:pP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7092254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613648" cy="990600"/>
          </a:xfrm>
        </p:spPr>
        <p:txBody>
          <a:bodyPr>
            <a:normAutofit/>
          </a:bodyPr>
          <a:lstStyle/>
          <a:p>
            <a:r>
              <a:rPr lang="en-US" sz="2500" b="1" dirty="0" smtClean="0"/>
              <a:t/>
            </a:r>
            <a:br>
              <a:rPr lang="en-US" sz="2500" b="1" dirty="0" smtClean="0"/>
            </a:br>
            <a:r>
              <a:rPr lang="en-US" sz="2500" b="1" dirty="0" smtClean="0"/>
              <a:t>  Conti…</a:t>
            </a:r>
            <a:endParaRPr lang="en-US" sz="25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600200"/>
            <a:ext cx="8839200" cy="5105400"/>
          </a:xfrm>
        </p:spPr>
        <p:txBody>
          <a:bodyPr>
            <a:noAutofit/>
          </a:bodyPr>
          <a:lstStyle/>
          <a:p>
            <a:pPr marL="457200" indent="-365760">
              <a:spcBef>
                <a:spcPts val="0"/>
              </a:spcBef>
              <a:buSzPct val="99000"/>
              <a:buFont typeface="Wingdings" pitchFamily="2" charset="2"/>
              <a:buChar char="®"/>
            </a:pPr>
            <a:r>
              <a:rPr lang="en-US" sz="2400" b="1" dirty="0" smtClean="0"/>
              <a:t>The existing laws and directives in Ethiopia in the field of IP are:</a:t>
            </a:r>
          </a:p>
          <a:p>
            <a:pPr lvl="2" indent="-365760">
              <a:spcBef>
                <a:spcPts val="0"/>
              </a:spcBef>
              <a:buSzPct val="99000"/>
            </a:pPr>
            <a:r>
              <a:rPr lang="en-US" sz="2400" b="1" dirty="0" smtClean="0"/>
              <a:t>the </a:t>
            </a:r>
            <a:r>
              <a:rPr lang="en-US" sz="2400" b="1" dirty="0" smtClean="0">
                <a:solidFill>
                  <a:srgbClr val="922E7F"/>
                </a:solidFill>
              </a:rPr>
              <a:t>Patent</a:t>
            </a:r>
            <a:r>
              <a:rPr lang="en-US" sz="2400" b="1" dirty="0" smtClean="0"/>
              <a:t> Proclamation and the Implementing Regulation, </a:t>
            </a:r>
          </a:p>
          <a:p>
            <a:pPr lvl="2" indent="-365760">
              <a:spcBef>
                <a:spcPts val="0"/>
              </a:spcBef>
              <a:buSzPct val="99000"/>
            </a:pPr>
            <a:r>
              <a:rPr lang="en-US" sz="2400" b="1" dirty="0" smtClean="0"/>
              <a:t>the </a:t>
            </a:r>
            <a:r>
              <a:rPr lang="en-US" sz="2400" b="1" dirty="0" smtClean="0">
                <a:solidFill>
                  <a:srgbClr val="922E7F"/>
                </a:solidFill>
              </a:rPr>
              <a:t>Copyright</a:t>
            </a:r>
            <a:r>
              <a:rPr lang="en-US" sz="2400" b="1" dirty="0" smtClean="0"/>
              <a:t> and Related Rights Proclamation and </a:t>
            </a:r>
          </a:p>
          <a:p>
            <a:pPr lvl="2" indent="-365760">
              <a:spcBef>
                <a:spcPts val="0"/>
              </a:spcBef>
              <a:buSzPct val="99000"/>
            </a:pPr>
            <a:r>
              <a:rPr lang="en-US" sz="2400" b="1" dirty="0" smtClean="0"/>
              <a:t>the </a:t>
            </a:r>
            <a:r>
              <a:rPr lang="en-US" sz="2400" b="1" dirty="0" smtClean="0">
                <a:solidFill>
                  <a:srgbClr val="922E7F"/>
                </a:solidFill>
              </a:rPr>
              <a:t>Trademark</a:t>
            </a:r>
            <a:r>
              <a:rPr lang="en-US" sz="2400" b="1" dirty="0" smtClean="0"/>
              <a:t> Registration Directive.</a:t>
            </a:r>
          </a:p>
          <a:p>
            <a:pPr marL="457200" indent="-365760">
              <a:spcBef>
                <a:spcPts val="0"/>
              </a:spcBef>
              <a:buClr>
                <a:srgbClr val="922E7F"/>
              </a:buClr>
              <a:buSzPct val="99000"/>
              <a:buFont typeface="Wingdings" pitchFamily="2" charset="2"/>
              <a:buChar char="¯"/>
            </a:pPr>
            <a:r>
              <a:rPr lang="en-US" sz="2800" b="1" dirty="0" smtClean="0">
                <a:solidFill>
                  <a:srgbClr val="922E7F"/>
                </a:solidFill>
              </a:rPr>
              <a:t>Patent : </a:t>
            </a:r>
            <a:r>
              <a:rPr lang="en-US" sz="2400" b="1" dirty="0" smtClean="0"/>
              <a:t>According to the proclamation in order to be </a:t>
            </a:r>
            <a:r>
              <a:rPr lang="en-US" sz="2400" b="1" dirty="0" smtClean="0">
                <a:solidFill>
                  <a:srgbClr val="FF0000"/>
                </a:solidFill>
              </a:rPr>
              <a:t>granted a patent</a:t>
            </a:r>
            <a:r>
              <a:rPr lang="en-US" sz="2400" b="1" dirty="0" smtClean="0"/>
              <a:t>, an invention must fulfill three conditions- </a:t>
            </a:r>
          </a:p>
          <a:p>
            <a:pPr lvl="2" indent="-365760">
              <a:spcBef>
                <a:spcPts val="0"/>
              </a:spcBef>
              <a:buSzPct val="99000"/>
              <a:buNone/>
            </a:pPr>
            <a:r>
              <a:rPr lang="en-US" sz="2400" b="1" i="1" dirty="0" smtClean="0">
                <a:solidFill>
                  <a:schemeClr val="accent2"/>
                </a:solidFill>
              </a:rPr>
              <a:t>(1) it must be new- </a:t>
            </a:r>
          </a:p>
          <a:p>
            <a:pPr lvl="3" indent="-365760">
              <a:spcBef>
                <a:spcPts val="0"/>
              </a:spcBef>
              <a:buSzPct val="99000"/>
            </a:pPr>
            <a:r>
              <a:rPr lang="en-US" sz="2400" b="1" i="1" dirty="0" smtClean="0">
                <a:solidFill>
                  <a:srgbClr val="7030A0"/>
                </a:solidFill>
              </a:rPr>
              <a:t>It should never have been published or publicly used before.</a:t>
            </a:r>
          </a:p>
          <a:p>
            <a:pPr lvl="2" indent="-365760">
              <a:spcBef>
                <a:spcPts val="0"/>
              </a:spcBef>
              <a:buSzPct val="99000"/>
              <a:buNone/>
            </a:pPr>
            <a:r>
              <a:rPr lang="en-US" sz="2400" b="1" i="1" dirty="0" smtClean="0">
                <a:solidFill>
                  <a:schemeClr val="accent2"/>
                </a:solidFill>
              </a:rPr>
              <a:t>(2) It should be capable of industrial application- </a:t>
            </a:r>
          </a:p>
          <a:p>
            <a:pPr lvl="3" indent="-365760">
              <a:spcBef>
                <a:spcPts val="0"/>
              </a:spcBef>
              <a:buSzPct val="99000"/>
            </a:pPr>
            <a:r>
              <a:rPr lang="en-US" sz="2400" b="1" i="1" dirty="0" smtClean="0">
                <a:solidFill>
                  <a:srgbClr val="00B050"/>
                </a:solidFill>
              </a:rPr>
              <a:t>It must be something w/c can be industrially manufactured or used.</a:t>
            </a:r>
          </a:p>
          <a:p>
            <a:pPr lvl="2" indent="-365760">
              <a:spcBef>
                <a:spcPts val="0"/>
              </a:spcBef>
              <a:buSzPct val="99000"/>
              <a:buNone/>
            </a:pPr>
            <a:r>
              <a:rPr lang="en-US" sz="2400" b="1" i="1" dirty="0" smtClean="0">
                <a:solidFill>
                  <a:schemeClr val="accent2"/>
                </a:solidFill>
              </a:rPr>
              <a:t>(3) It must be "non-obvious”- </a:t>
            </a:r>
          </a:p>
          <a:p>
            <a:pPr lvl="3" indent="-365760">
              <a:spcBef>
                <a:spcPts val="0"/>
              </a:spcBef>
              <a:buSzPct val="99000"/>
            </a:pPr>
            <a:r>
              <a:rPr lang="en-US" sz="2400" b="1" i="1" dirty="0" smtClean="0">
                <a:solidFill>
                  <a:srgbClr val="0000FF"/>
                </a:solidFill>
              </a:rPr>
              <a:t>It should not be an invention which would have occurred to any specialist working in the relevant field. </a:t>
            </a:r>
          </a:p>
          <a:p>
            <a:pPr>
              <a:buSzPct val="99000"/>
            </a:pPr>
            <a:endParaRPr lang="en-US" sz="2500" dirty="0" smtClean="0"/>
          </a:p>
          <a:p>
            <a:pPr lvl="1">
              <a:buSzPct val="99000"/>
            </a:pPr>
            <a:endParaRPr lang="en-US" sz="2500" dirty="0" smtClean="0"/>
          </a:p>
          <a:p>
            <a:pPr>
              <a:buSzPct val="99000"/>
              <a:buFont typeface="Wingdings" pitchFamily="2" charset="2"/>
              <a:buChar char="q"/>
            </a:pPr>
            <a:endParaRPr lang="en-US" sz="2500" b="1" dirty="0"/>
          </a:p>
        </p:txBody>
      </p:sp>
    </p:spTree>
    <p:extLst>
      <p:ext uri="{BB962C8B-B14F-4D97-AF65-F5344CB8AC3E}">
        <p14:creationId xmlns:p14="http://schemas.microsoft.com/office/powerpoint/2010/main" val="7092254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613648" cy="990600"/>
          </a:xfrm>
        </p:spPr>
        <p:txBody>
          <a:bodyPr>
            <a:normAutofit fontScale="90000"/>
          </a:bodyPr>
          <a:lstStyle/>
          <a:p>
            <a:r>
              <a:rPr lang="en-US" sz="3100" b="1" dirty="0" smtClean="0"/>
              <a:t/>
            </a:r>
            <a:br>
              <a:rPr lang="en-US" sz="3100" b="1" dirty="0" smtClean="0"/>
            </a:br>
            <a:r>
              <a:rPr lang="en-US" sz="3100" b="1" dirty="0" smtClean="0"/>
              <a:t>  Conti…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600200"/>
            <a:ext cx="8839200" cy="51054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SzPct val="99000"/>
              <a:buNone/>
            </a:pPr>
            <a:r>
              <a:rPr lang="en-US" sz="2500" b="1" dirty="0" smtClean="0"/>
              <a:t>   </a:t>
            </a:r>
            <a:r>
              <a:rPr lang="en-US" sz="2600" b="1" dirty="0" smtClean="0">
                <a:solidFill>
                  <a:srgbClr val="7030A0"/>
                </a:solidFill>
              </a:rPr>
              <a:t>Trademark Directive </a:t>
            </a:r>
            <a:r>
              <a:rPr lang="en-US" sz="2600" b="1" dirty="0" smtClean="0"/>
              <a:t>is issued in the country in 1986 with the following </a:t>
            </a:r>
            <a:r>
              <a:rPr lang="en-US" sz="2600" b="1" dirty="0" smtClean="0">
                <a:solidFill>
                  <a:schemeClr val="accent2"/>
                </a:solidFill>
              </a:rPr>
              <a:t>objectives</a:t>
            </a:r>
            <a:r>
              <a:rPr lang="en-US" sz="2600" b="1" dirty="0" smtClean="0"/>
              <a:t> in that it  helps:-</a:t>
            </a:r>
          </a:p>
          <a:p>
            <a:pPr marL="731520" lvl="2" indent="-365760">
              <a:spcBef>
                <a:spcPts val="0"/>
              </a:spcBef>
              <a:buClr>
                <a:srgbClr val="0000FF"/>
              </a:buClr>
              <a:buSzPct val="99000"/>
            </a:pPr>
            <a:r>
              <a:rPr lang="en-US" sz="2600" b="1" i="1" dirty="0" smtClean="0">
                <a:solidFill>
                  <a:srgbClr val="0033CC"/>
                </a:solidFill>
              </a:rPr>
              <a:t>To centrally deposit trademarks which are used by local and foreign enterprises to distinguish their goods or services;</a:t>
            </a:r>
          </a:p>
          <a:p>
            <a:pPr marL="731520" lvl="2" indent="-365760">
              <a:spcBef>
                <a:spcPts val="0"/>
              </a:spcBef>
              <a:buClr>
                <a:srgbClr val="0000FF"/>
              </a:buClr>
              <a:buSzPct val="99000"/>
            </a:pPr>
            <a:r>
              <a:rPr lang="en-US" sz="2600" b="1" i="1" dirty="0" smtClean="0">
                <a:solidFill>
                  <a:srgbClr val="0033CC"/>
                </a:solidFill>
              </a:rPr>
              <a:t>To distinguish the products or services of one enterprise from those of other enterprises and prevent consumers from being victims of unfair trade practices;</a:t>
            </a:r>
          </a:p>
          <a:p>
            <a:pPr marL="731520" lvl="2" indent="-365760">
              <a:spcBef>
                <a:spcPts val="0"/>
              </a:spcBef>
              <a:buClr>
                <a:srgbClr val="0000FF"/>
              </a:buClr>
              <a:buSzPct val="99000"/>
            </a:pPr>
            <a:r>
              <a:rPr lang="en-US" sz="2600" b="1" i="1" dirty="0" smtClean="0">
                <a:solidFill>
                  <a:srgbClr val="0033CC"/>
                </a:solidFill>
              </a:rPr>
              <a:t>To provide information on trademark ownership and right of use when disputes arise between parties;</a:t>
            </a:r>
          </a:p>
          <a:p>
            <a:pPr marL="731520" lvl="2" indent="-365760">
              <a:spcBef>
                <a:spcPts val="0"/>
              </a:spcBef>
              <a:buClr>
                <a:srgbClr val="0000FF"/>
              </a:buClr>
              <a:buSzPct val="99000"/>
            </a:pPr>
            <a:r>
              <a:rPr lang="en-US" sz="2600" b="1" i="1" dirty="0" smtClean="0">
                <a:solidFill>
                  <a:srgbClr val="0033CC"/>
                </a:solidFill>
              </a:rPr>
              <a:t>To provide required information on trademarks to government and individuals; and</a:t>
            </a:r>
          </a:p>
          <a:p>
            <a:pPr marL="731520" lvl="2" indent="-365760">
              <a:spcBef>
                <a:spcPts val="0"/>
              </a:spcBef>
              <a:buClr>
                <a:srgbClr val="0000FF"/>
              </a:buClr>
              <a:buSzPct val="99000"/>
            </a:pPr>
            <a:r>
              <a:rPr lang="en-US" sz="2600" b="1" i="1" dirty="0" smtClean="0">
                <a:solidFill>
                  <a:srgbClr val="0033CC"/>
                </a:solidFill>
              </a:rPr>
              <a:t>Protection is granted after publication of cautionary notice</a:t>
            </a:r>
            <a:r>
              <a:rPr lang="en-US" sz="2400" b="1" i="1" dirty="0" smtClean="0">
                <a:solidFill>
                  <a:srgbClr val="0033CC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092254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613648" cy="990600"/>
          </a:xfrm>
        </p:spPr>
        <p:txBody>
          <a:bodyPr>
            <a:normAutofit fontScale="90000"/>
          </a:bodyPr>
          <a:lstStyle/>
          <a:p>
            <a:r>
              <a:rPr lang="en-US" sz="3100" b="1" dirty="0" smtClean="0"/>
              <a:t/>
            </a:r>
            <a:br>
              <a:rPr lang="en-US" sz="3100" b="1" dirty="0" smtClean="0"/>
            </a:br>
            <a:r>
              <a:rPr lang="en-US" sz="3100" b="1" dirty="0" smtClean="0"/>
              <a:t>  Conti…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676400"/>
            <a:ext cx="8839200" cy="5029200"/>
          </a:xfrm>
        </p:spPr>
        <p:txBody>
          <a:bodyPr>
            <a:noAutofit/>
          </a:bodyPr>
          <a:lstStyle/>
          <a:p>
            <a:pPr marL="457200" indent="-365760">
              <a:buSzPct val="99000"/>
              <a:buNone/>
            </a:pPr>
            <a:r>
              <a:rPr lang="en-US" sz="2300" b="1" dirty="0" smtClean="0">
                <a:solidFill>
                  <a:srgbClr val="7030A0"/>
                </a:solidFill>
              </a:rPr>
              <a:t>    </a:t>
            </a:r>
            <a:r>
              <a:rPr lang="en-US" sz="2800" b="1" dirty="0" smtClean="0">
                <a:solidFill>
                  <a:srgbClr val="7030A0"/>
                </a:solidFill>
              </a:rPr>
              <a:t>Copyright</a:t>
            </a:r>
            <a:r>
              <a:rPr lang="en-US" sz="2400" b="1" dirty="0" smtClean="0">
                <a:solidFill>
                  <a:srgbClr val="7030A0"/>
                </a:solidFill>
              </a:rPr>
              <a:t> </a:t>
            </a:r>
            <a:r>
              <a:rPr lang="en-US" sz="2600" b="1" dirty="0" smtClean="0"/>
              <a:t>is protected on the basis of the copyright and related rights proclamation issued in 2004. </a:t>
            </a:r>
          </a:p>
          <a:p>
            <a:pPr marL="457200" indent="-365760">
              <a:buSzPct val="99000"/>
              <a:buFont typeface="Wingdings" pitchFamily="2" charset="2"/>
              <a:buChar char="®"/>
            </a:pPr>
            <a:r>
              <a:rPr lang="en-US" sz="2600" b="1" dirty="0" smtClean="0"/>
              <a:t>The </a:t>
            </a:r>
            <a:r>
              <a:rPr lang="en-US" sz="2600" b="1" dirty="0" smtClean="0">
                <a:solidFill>
                  <a:srgbClr val="FF0000"/>
                </a:solidFill>
              </a:rPr>
              <a:t>proclamation</a:t>
            </a:r>
            <a:r>
              <a:rPr lang="en-US" sz="2600" b="1" dirty="0" smtClean="0"/>
              <a:t> gives </a:t>
            </a:r>
            <a:r>
              <a:rPr lang="en-US" sz="2600" b="1" dirty="0" smtClean="0">
                <a:solidFill>
                  <a:srgbClr val="FF0000"/>
                </a:solidFill>
              </a:rPr>
              <a:t>protection</a:t>
            </a:r>
            <a:r>
              <a:rPr lang="en-US" sz="2600" b="1" dirty="0" smtClean="0"/>
              <a:t> to literary, artistic and scientific works which include books, pamphlets, articles, computer programs and other writings etc…</a:t>
            </a:r>
          </a:p>
          <a:p>
            <a:pPr marL="457200" indent="-365760">
              <a:buSzPct val="99000"/>
              <a:buNone/>
            </a:pPr>
            <a:endParaRPr lang="en-US" sz="2600" b="1" dirty="0" smtClean="0"/>
          </a:p>
          <a:p>
            <a:pPr marL="457200" indent="-365760">
              <a:buSzPct val="99000"/>
              <a:buFont typeface="Wingdings" pitchFamily="2" charset="2"/>
              <a:buChar char="®"/>
            </a:pPr>
            <a:r>
              <a:rPr lang="en-US" sz="2600" b="1" dirty="0" smtClean="0"/>
              <a:t> Copyright is protected for the </a:t>
            </a:r>
            <a:r>
              <a:rPr lang="en-US" sz="2600" b="1" i="1" dirty="0" smtClean="0">
                <a:solidFill>
                  <a:srgbClr val="0033CC"/>
                </a:solidFill>
              </a:rPr>
              <a:t>life of the author plus fifty years.</a:t>
            </a:r>
          </a:p>
        </p:txBody>
      </p:sp>
    </p:spTree>
    <p:extLst>
      <p:ext uri="{BB962C8B-B14F-4D97-AF65-F5344CB8AC3E}">
        <p14:creationId xmlns:p14="http://schemas.microsoft.com/office/powerpoint/2010/main" val="7092254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47800" y="914400"/>
            <a:ext cx="8305800" cy="6553200"/>
          </a:xfrm>
          <a:solidFill>
            <a:schemeClr val="accent1">
              <a:lumMod val="75000"/>
            </a:schemeClr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buNone/>
            </a:pPr>
            <a:endParaRPr lang="en-US" sz="4800" b="1" dirty="0" smtClean="0"/>
          </a:p>
          <a:p>
            <a:pPr algn="ctr">
              <a:buNone/>
            </a:pPr>
            <a:endParaRPr lang="en-US" sz="8000" b="1" dirty="0" smtClean="0">
              <a:latin typeface="Arial Black" pitchFamily="34" charset="0"/>
            </a:endParaRPr>
          </a:p>
          <a:p>
            <a:pPr algn="ctr">
              <a:buNone/>
            </a:pPr>
            <a:r>
              <a:rPr lang="en-US" sz="4400" b="1" dirty="0" smtClean="0">
                <a:latin typeface="Arial Black" pitchFamily="34" charset="0"/>
              </a:rPr>
              <a:t>END OF CHAPTER FOUR</a:t>
            </a:r>
          </a:p>
          <a:p>
            <a:pPr algn="ctr">
              <a:buNone/>
            </a:pPr>
            <a:r>
              <a:rPr lang="en-US" sz="6000" b="1" dirty="0" smtClean="0">
                <a:latin typeface="Arial Black" pitchFamily="34" charset="0"/>
              </a:rPr>
              <a:t>Thank you !!!</a:t>
            </a:r>
            <a:endParaRPr lang="en-US" sz="6000" b="1" dirty="0" smtClean="0"/>
          </a:p>
        </p:txBody>
      </p:sp>
      <p:pic>
        <p:nvPicPr>
          <p:cNvPr id="4" name="Picture 3" descr="emo_bravo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828800"/>
            <a:ext cx="3271838" cy="2057400"/>
          </a:xfrm>
          <a:prstGeom prst="rect">
            <a:avLst/>
          </a:prstGeom>
          <a:noFill/>
          <a:ln>
            <a:noFill/>
          </a:ln>
          <a:extLst/>
        </p:spPr>
      </p:pic>
      <p:pic>
        <p:nvPicPr>
          <p:cNvPr id="5" name="Content Placeholder 4" descr="Ethiopian%20flag%20motion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-171400"/>
            <a:ext cx="5076056" cy="2371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vortex dir="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TC104033923[[fn=Depth]]</Template>
  <TotalTime>28071</TotalTime>
  <Words>2042</Words>
  <Application>Microsoft Office PowerPoint</Application>
  <PresentationFormat>On-screen Show (4:3)</PresentationFormat>
  <Paragraphs>253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Median</vt:lpstr>
      <vt:lpstr>PowerPoint Presentation</vt:lpstr>
      <vt:lpstr>      CHAPTER 4: PRODUCT/SERVICE DEVELOPMENT</vt:lpstr>
      <vt:lpstr>   Conti…</vt:lpstr>
      <vt:lpstr>   Conti…</vt:lpstr>
      <vt:lpstr>     4.2 The Concept of Product/Service</vt:lpstr>
      <vt:lpstr>    4.3 Product/Service Development Process</vt:lpstr>
      <vt:lpstr> There are 4 distinct stages in Product/service development process </vt:lpstr>
      <vt:lpstr> Stages of new product development process are: </vt:lpstr>
      <vt:lpstr>   Conti…</vt:lpstr>
      <vt:lpstr>   Conti…</vt:lpstr>
      <vt:lpstr>   Conti…</vt:lpstr>
      <vt:lpstr>   Conti…</vt:lpstr>
      <vt:lpstr>   Conti…</vt:lpstr>
      <vt:lpstr>   Conti…</vt:lpstr>
      <vt:lpstr>   Conti…</vt:lpstr>
      <vt:lpstr>   Conti…</vt:lpstr>
      <vt:lpstr>     4.4 Legal &amp; Regulatory Frameworks for Entrepreneurs</vt:lpstr>
      <vt:lpstr> 4.5 Intellectual Property Protection/Product/Service Protection</vt:lpstr>
      <vt:lpstr>    4.5.2 Patents</vt:lpstr>
      <vt:lpstr>   Conti…</vt:lpstr>
      <vt:lpstr>    4.5.3 Trademarks</vt:lpstr>
      <vt:lpstr>   Conti…</vt:lpstr>
      <vt:lpstr>    4.5.4 Copyrights</vt:lpstr>
      <vt:lpstr>Assignment 2    4.6 The Intellectual Property System in Ethiopia</vt:lpstr>
      <vt:lpstr>   Conti…</vt:lpstr>
      <vt:lpstr>   Conti…</vt:lpstr>
      <vt:lpstr>   Conti…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assignment for the course sectoral issues in cooperative on the topic “Are you pro or against Agricultural Multi purpose cooperative?”</dc:title>
  <dc:creator>Yonas</dc:creator>
  <cp:lastModifiedBy>USER</cp:lastModifiedBy>
  <cp:revision>8580</cp:revision>
  <dcterms:created xsi:type="dcterms:W3CDTF">2011-08-23T15:19:18Z</dcterms:created>
  <dcterms:modified xsi:type="dcterms:W3CDTF">2026-02-13T14:02:47Z</dcterms:modified>
</cp:coreProperties>
</file>